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9144000" cx="16256000"/>
  <p:notesSz cx="9144000" cy="16256000"/>
  <p:embeddedFontLst>
    <p:embeddedFont>
      <p:font typeface="Liter"/>
      <p:regular r:id="rId16"/>
    </p:embeddedFont>
    <p:embeddedFont>
      <p:font typeface="Quattrocen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445BED-3FCB-4CA9-AA3D-FA52769822C1}">
  <a:tblStyle styleId="{D3445BED-3FCB-4CA9-AA3D-FA52769822C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QuattrocentoSans-regular.fntdata"/><Relationship Id="rId16" Type="http://schemas.openxmlformats.org/officeDocument/2006/relationships/font" Target="fonts/Li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italic.fntdata"/><Relationship Id="rId6" Type="http://schemas.openxmlformats.org/officeDocument/2006/relationships/slide" Target="slides/slide1.xml"/><Relationship Id="rId18" Type="http://schemas.openxmlformats.org/officeDocument/2006/relationships/font" Target="fonts/Quattrocento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koumofwgx3hee/mnt/agents/upload/customer_dashboard.png" id="16" name="Google Shape;16;p3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-225"/>
            <a:ext cx="16256100" cy="9144000"/>
          </a:xfrm>
          <a:prstGeom prst="rect">
            <a:avLst/>
          </a:prstGeom>
          <a:gradFill>
            <a:gsLst>
              <a:gs pos="0">
                <a:srgbClr val="1B2A4A">
                  <a:alpha val="94117"/>
                </a:srgbClr>
              </a:gs>
              <a:gs pos="50000">
                <a:srgbClr val="1B2A4A">
                  <a:alpha val="87843"/>
                </a:srgbClr>
              </a:gs>
              <a:gs pos="100000">
                <a:srgbClr val="1B2A4A">
                  <a:alpha val="96078"/>
                </a:srgbClr>
              </a:gs>
            </a:gsLst>
            <a:lin ang="5400000" scaled="0"/>
          </a:gradFill>
          <a:ln>
            <a:noFill/>
          </a:ln>
          <a:effectLst>
            <a:outerShdw rotWithShape="0" algn="bl" dir="14580000" dist="495300">
              <a:schemeClr val="dk1">
                <a:alpha val="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C1D9"/>
              </a:solidFill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778000" y="3175000"/>
            <a:ext cx="12700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CREDIT CARD FINANCIAL DASHBOARD</a:t>
            </a:r>
            <a:endParaRPr b="0" i="0" sz="4800" u="none" cap="none" strike="noStrike"/>
          </a:p>
        </p:txBody>
      </p:sp>
      <p:sp>
        <p:nvSpPr>
          <p:cNvPr id="20" name="Google Shape;20;p3"/>
          <p:cNvSpPr/>
          <p:nvPr/>
        </p:nvSpPr>
        <p:spPr>
          <a:xfrm>
            <a:off x="3048000" y="4191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B0B8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Business Intelligence Solution</a:t>
            </a:r>
            <a:endParaRPr b="0" i="0" sz="2000" u="none" cap="none" strike="noStrike"/>
          </a:p>
        </p:txBody>
      </p:sp>
      <p:sp>
        <p:nvSpPr>
          <p:cNvPr id="21" name="Google Shape;21;p3"/>
          <p:cNvSpPr/>
          <p:nvPr/>
        </p:nvSpPr>
        <p:spPr>
          <a:xfrm>
            <a:off x="6223000" y="4889500"/>
            <a:ext cx="381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413000" y="5143500"/>
            <a:ext cx="1143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0B8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 BI  ·  POSTGRESQL  ·  SQL  ·  DAX  ·  POWER QUERY</a:t>
            </a:r>
            <a:endParaRPr b="0" i="0" sz="1600" u="none" cap="none" strike="noStrike"/>
          </a:p>
        </p:txBody>
      </p:sp>
      <p:sp>
        <p:nvSpPr>
          <p:cNvPr id="23" name="Google Shape;23;p3"/>
          <p:cNvSpPr/>
          <p:nvPr/>
        </p:nvSpPr>
        <p:spPr>
          <a:xfrm>
            <a:off x="4953000" y="812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Satyam Anand  |  Business Intelligence Portfolio</a:t>
            </a:r>
            <a:endParaRPr b="0" i="0" sz="13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762000" y="3810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PROJECT OVERVIEW</a:t>
            </a:r>
            <a:endParaRPr b="0" i="0" sz="2800" u="none" cap="none" strike="noStrike"/>
          </a:p>
        </p:txBody>
      </p:sp>
      <p:sp>
        <p:nvSpPr>
          <p:cNvPr id="31" name="Google Shape;31;p4"/>
          <p:cNvSpPr/>
          <p:nvPr/>
        </p:nvSpPr>
        <p:spPr>
          <a:xfrm>
            <a:off x="762000" y="952500"/>
            <a:ext cx="1016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762000" y="1270000"/>
            <a:ext cx="3429000" cy="165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62000" y="1397000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10,293</a:t>
            </a:r>
            <a:endParaRPr b="0" i="0" sz="4800" u="none" cap="none" strike="noStrike"/>
          </a:p>
        </p:txBody>
      </p:sp>
      <p:sp>
        <p:nvSpPr>
          <p:cNvPr id="34" name="Google Shape;34;p4"/>
          <p:cNvSpPr/>
          <p:nvPr/>
        </p:nvSpPr>
        <p:spPr>
          <a:xfrm>
            <a:off x="762000" y="2222500"/>
            <a:ext cx="3429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Records (Week 53)</a:t>
            </a:r>
            <a:endParaRPr b="0" i="0" sz="1400" u="none" cap="none" strike="noStrike"/>
          </a:p>
        </p:txBody>
      </p:sp>
      <p:sp>
        <p:nvSpPr>
          <p:cNvPr id="35" name="Google Shape;35;p4"/>
          <p:cNvSpPr/>
          <p:nvPr/>
        </p:nvSpPr>
        <p:spPr>
          <a:xfrm>
            <a:off x="762000" y="2921000"/>
            <a:ext cx="3429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508500" y="1270000"/>
            <a:ext cx="3429000" cy="165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508500" y="1397000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$56.52M</a:t>
            </a:r>
            <a:endParaRPr b="0" i="0" sz="4800" u="none" cap="none" strike="noStrike"/>
          </a:p>
        </p:txBody>
      </p:sp>
      <p:sp>
        <p:nvSpPr>
          <p:cNvPr id="38" name="Google Shape;38;p4"/>
          <p:cNvSpPr/>
          <p:nvPr/>
        </p:nvSpPr>
        <p:spPr>
          <a:xfrm>
            <a:off x="4508500" y="2222500"/>
            <a:ext cx="3429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Revenue</a:t>
            </a:r>
            <a:endParaRPr b="0" i="0" sz="1400" u="none" cap="none" strike="noStrike"/>
          </a:p>
        </p:txBody>
      </p:sp>
      <p:sp>
        <p:nvSpPr>
          <p:cNvPr id="39" name="Google Shape;39;p4"/>
          <p:cNvSpPr/>
          <p:nvPr/>
        </p:nvSpPr>
        <p:spPr>
          <a:xfrm>
            <a:off x="4508500" y="2921000"/>
            <a:ext cx="3429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255000" y="1270000"/>
            <a:ext cx="3429000" cy="165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255000" y="1397000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$587.6M</a:t>
            </a:r>
            <a:endParaRPr b="0" i="0" sz="4800" u="none" cap="none" strike="noStrike"/>
          </a:p>
        </p:txBody>
      </p:sp>
      <p:sp>
        <p:nvSpPr>
          <p:cNvPr id="42" name="Google Shape;42;p4"/>
          <p:cNvSpPr/>
          <p:nvPr/>
        </p:nvSpPr>
        <p:spPr>
          <a:xfrm>
            <a:off x="8255000" y="2222500"/>
            <a:ext cx="3429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Customer Income</a:t>
            </a:r>
            <a:endParaRPr b="0" i="0" sz="1400" u="none" cap="none" strike="noStrike"/>
          </a:p>
        </p:txBody>
      </p:sp>
      <p:sp>
        <p:nvSpPr>
          <p:cNvPr id="43" name="Google Shape;43;p4"/>
          <p:cNvSpPr/>
          <p:nvPr/>
        </p:nvSpPr>
        <p:spPr>
          <a:xfrm>
            <a:off x="8255000" y="2921000"/>
            <a:ext cx="3429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2001500" y="1270000"/>
            <a:ext cx="3429000" cy="165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2001500" y="1397000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667K</a:t>
            </a:r>
            <a:endParaRPr b="0" i="0" sz="4800" u="none" cap="none" strike="noStrike"/>
          </a:p>
        </p:txBody>
      </p:sp>
      <p:sp>
        <p:nvSpPr>
          <p:cNvPr id="46" name="Google Shape;46;p4"/>
          <p:cNvSpPr/>
          <p:nvPr/>
        </p:nvSpPr>
        <p:spPr>
          <a:xfrm>
            <a:off x="12001500" y="2222500"/>
            <a:ext cx="3429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Transactions</a:t>
            </a:r>
            <a:endParaRPr b="0" i="0" sz="1400" u="none" cap="none" strike="noStrike"/>
          </a:p>
        </p:txBody>
      </p:sp>
      <p:sp>
        <p:nvSpPr>
          <p:cNvPr id="47" name="Google Shape;47;p4"/>
          <p:cNvSpPr/>
          <p:nvPr/>
        </p:nvSpPr>
        <p:spPr>
          <a:xfrm>
            <a:off x="12001500" y="2921000"/>
            <a:ext cx="3429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762000" y="3429000"/>
            <a:ext cx="508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BI Solution</a:t>
            </a:r>
            <a:endParaRPr b="0" i="0" sz="2200" u="none" cap="none" strike="noStrike"/>
          </a:p>
        </p:txBody>
      </p:sp>
      <p:sp>
        <p:nvSpPr>
          <p:cNvPr id="49" name="Google Shape;49;p4"/>
          <p:cNvSpPr/>
          <p:nvPr/>
        </p:nvSpPr>
        <p:spPr>
          <a:xfrm>
            <a:off x="762000" y="4000500"/>
            <a:ext cx="6985000" cy="3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 interactive </a:t>
            </a:r>
            <a:r>
              <a:rPr b="1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 BI dashboard</a:t>
            </a:r>
            <a:r>
              <a:rPr b="0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analyzing credit card customer behavior and transaction performance across </a:t>
            </a:r>
            <a:r>
              <a:rPr b="1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10,293 records</a:t>
            </a:r>
            <a:r>
              <a:rPr b="0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Built with a production-style workflow: raw CSV data imported into </a:t>
            </a:r>
            <a:r>
              <a:rPr b="1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PostgreSQL</a:t>
            </a:r>
            <a:r>
              <a:rPr b="0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connected to Power BI via a relational data model, and refreshed incrementally with new weekly data.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analytical dashboards provide real-time insights into revenue, demographics, spending patterns, and financial KPIs.</a:t>
            </a:r>
            <a:endParaRPr b="0" i="0" sz="1800" u="none" cap="none" strike="noStrike"/>
          </a:p>
        </p:txBody>
      </p:sp>
      <p:sp>
        <p:nvSpPr>
          <p:cNvPr id="50" name="Google Shape;50;p4"/>
          <p:cNvSpPr/>
          <p:nvPr/>
        </p:nvSpPr>
        <p:spPr>
          <a:xfrm>
            <a:off x="8382000" y="3429000"/>
            <a:ext cx="508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Highlights</a:t>
            </a:r>
            <a:endParaRPr b="0" i="0" sz="2200" u="none" cap="none" strike="noStrike"/>
          </a:p>
        </p:txBody>
      </p:sp>
      <p:sp>
        <p:nvSpPr>
          <p:cNvPr id="51" name="Google Shape;51;p4"/>
          <p:cNvSpPr/>
          <p:nvPr/>
        </p:nvSpPr>
        <p:spPr>
          <a:xfrm>
            <a:off x="8382000" y="4064000"/>
            <a:ext cx="304800" cy="304800"/>
          </a:xfrm>
          <a:custGeom>
            <a:rect b="b" l="l" r="r" t="t"/>
            <a:pathLst>
              <a:path extrusionOk="0" h="304800" w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8826500" y="40386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weekly revenue and transaction tracking</a:t>
            </a:r>
            <a:endParaRPr b="0" i="0" sz="1600" u="none" cap="none" strike="noStrike"/>
          </a:p>
        </p:txBody>
      </p:sp>
      <p:sp>
        <p:nvSpPr>
          <p:cNvPr id="53" name="Google Shape;53;p4"/>
          <p:cNvSpPr/>
          <p:nvPr/>
        </p:nvSpPr>
        <p:spPr>
          <a:xfrm>
            <a:off x="8382000" y="4572000"/>
            <a:ext cx="304800" cy="304800"/>
          </a:xfrm>
          <a:custGeom>
            <a:rect b="b" l="l" r="r" t="t"/>
            <a:pathLst>
              <a:path extrusionOk="0" h="304800" w="304800">
                <a:moveTo>
                  <a:pt x="304800" y="122515"/>
                </a:moveTo>
                <a:cubicBezTo>
                  <a:pt x="294731" y="128349"/>
                  <a:pt x="283165" y="133052"/>
                  <a:pt x="271122" y="136803"/>
                </a:cubicBezTo>
                <a:cubicBezTo>
                  <a:pt x="239146" y="146804"/>
                  <a:pt x="197168" y="152400"/>
                  <a:pt x="152400" y="152400"/>
                </a:cubicBezTo>
                <a:cubicBezTo>
                  <a:pt x="107632" y="152400"/>
                  <a:pt x="65586" y="146745"/>
                  <a:pt x="33678" y="136803"/>
                </a:cubicBezTo>
                <a:cubicBezTo>
                  <a:pt x="21703" y="133052"/>
                  <a:pt x="10069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68240" y="219075"/>
                  <a:pt x="152400" y="219075"/>
                </a:cubicBezTo>
                <a:cubicBezTo>
                  <a:pt x="236560" y="219075"/>
                  <a:pt x="304800" y="197763"/>
                  <a:pt x="304800" y="171450"/>
                </a:cubicBezTo>
                <a:lnTo>
                  <a:pt x="304800" y="122515"/>
                </a:lnTo>
                <a:close/>
                <a:moveTo>
                  <a:pt x="304800" y="76200"/>
                </a:moveTo>
                <a:lnTo>
                  <a:pt x="304800" y="47625"/>
                </a:lnTo>
                <a:cubicBezTo>
                  <a:pt x="304800" y="21312"/>
                  <a:pt x="236560" y="0"/>
                  <a:pt x="152400" y="0"/>
                </a:cubicBezTo>
                <a:cubicBezTo>
                  <a:pt x="6824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68240" y="123825"/>
                  <a:pt x="152400" y="123825"/>
                </a:cubicBezTo>
                <a:cubicBezTo>
                  <a:pt x="236560" y="123825"/>
                  <a:pt x="304800" y="102513"/>
                  <a:pt x="304800" y="76200"/>
                </a:cubicBezTo>
                <a:close/>
                <a:moveTo>
                  <a:pt x="271122" y="232053"/>
                </a:moveTo>
                <a:cubicBezTo>
                  <a:pt x="239214" y="241995"/>
                  <a:pt x="197236" y="247650"/>
                  <a:pt x="152400" y="247650"/>
                </a:cubicBezTo>
                <a:cubicBezTo>
                  <a:pt x="107564" y="247650"/>
                  <a:pt x="65586" y="241995"/>
                  <a:pt x="33678" y="232053"/>
                </a:cubicBezTo>
                <a:cubicBezTo>
                  <a:pt x="21703" y="228302"/>
                  <a:pt x="10069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68240" y="304800"/>
                  <a:pt x="152400" y="304800"/>
                </a:cubicBezTo>
                <a:cubicBezTo>
                  <a:pt x="236560" y="304800"/>
                  <a:pt x="304800" y="283488"/>
                  <a:pt x="304800" y="257175"/>
                </a:cubicBezTo>
                <a:lnTo>
                  <a:pt x="304800" y="217765"/>
                </a:lnTo>
                <a:cubicBezTo>
                  <a:pt x="294731" y="223599"/>
                  <a:pt x="283165" y="228302"/>
                  <a:pt x="271122" y="232053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8826500" y="45466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PostgreSQL database with relational data model</a:t>
            </a:r>
            <a:endParaRPr b="0" i="0" sz="1600" u="none" cap="none" strike="noStrike"/>
          </a:p>
        </p:txBody>
      </p:sp>
      <p:sp>
        <p:nvSpPr>
          <p:cNvPr id="55" name="Google Shape;55;p4"/>
          <p:cNvSpPr/>
          <p:nvPr/>
        </p:nvSpPr>
        <p:spPr>
          <a:xfrm>
            <a:off x="8382000" y="5080000"/>
            <a:ext cx="304800" cy="304800"/>
          </a:xfrm>
          <a:custGeom>
            <a:rect b="b" l="l" r="r" t="t"/>
            <a:pathLst>
              <a:path extrusionOk="0" h="304800" w="304800">
                <a:moveTo>
                  <a:pt x="39231" y="136029"/>
                </a:moveTo>
                <a:cubicBezTo>
                  <a:pt x="47149" y="80665"/>
                  <a:pt x="94833" y="38100"/>
                  <a:pt x="152400" y="38100"/>
                </a:cubicBezTo>
                <a:cubicBezTo>
                  <a:pt x="183952" y="38100"/>
                  <a:pt x="212527" y="50899"/>
                  <a:pt x="233243" y="71557"/>
                </a:cubicBezTo>
                <a:cubicBezTo>
                  <a:pt x="233363" y="71676"/>
                  <a:pt x="233482" y="71795"/>
                  <a:pt x="233601" y="71914"/>
                </a:cubicBezTo>
                <a:lnTo>
                  <a:pt x="238125" y="76200"/>
                </a:lnTo>
                <a:lnTo>
                  <a:pt x="209610" y="76200"/>
                </a:lnTo>
                <a:cubicBezTo>
                  <a:pt x="199073" y="76200"/>
                  <a:pt x="190560" y="84713"/>
                  <a:pt x="190560" y="95250"/>
                </a:cubicBezTo>
                <a:cubicBezTo>
                  <a:pt x="190560" y="105787"/>
                  <a:pt x="199073" y="114300"/>
                  <a:pt x="209610" y="114300"/>
                </a:cubicBezTo>
                <a:lnTo>
                  <a:pt x="285810" y="114300"/>
                </a:lnTo>
                <a:cubicBezTo>
                  <a:pt x="296347" y="114300"/>
                  <a:pt x="304860" y="105787"/>
                  <a:pt x="304860" y="95250"/>
                </a:cubicBezTo>
                <a:lnTo>
                  <a:pt x="304860" y="19050"/>
                </a:lnTo>
                <a:cubicBezTo>
                  <a:pt x="304860" y="8513"/>
                  <a:pt x="296347" y="0"/>
                  <a:pt x="285810" y="0"/>
                </a:cubicBezTo>
                <a:cubicBezTo>
                  <a:pt x="275273" y="0"/>
                  <a:pt x="266760" y="8513"/>
                  <a:pt x="266760" y="19050"/>
                </a:cubicBezTo>
                <a:lnTo>
                  <a:pt x="266760" y="50840"/>
                </a:lnTo>
                <a:lnTo>
                  <a:pt x="260033" y="44470"/>
                </a:lnTo>
                <a:cubicBezTo>
                  <a:pt x="232470" y="17026"/>
                  <a:pt x="194370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lose/>
                <a:moveTo>
                  <a:pt x="303252" y="174129"/>
                </a:moveTo>
                <a:cubicBezTo>
                  <a:pt x="304740" y="163711"/>
                  <a:pt x="297478" y="154067"/>
                  <a:pt x="287119" y="152579"/>
                </a:cubicBezTo>
                <a:cubicBezTo>
                  <a:pt x="276761" y="151090"/>
                  <a:pt x="267057" y="158353"/>
                  <a:pt x="265569" y="168712"/>
                </a:cubicBezTo>
                <a:cubicBezTo>
                  <a:pt x="257651" y="224076"/>
                  <a:pt x="209967" y="266640"/>
                  <a:pt x="152400" y="266640"/>
                </a:cubicBezTo>
                <a:cubicBezTo>
                  <a:pt x="120848" y="266640"/>
                  <a:pt x="92273" y="253841"/>
                  <a:pt x="71557" y="233184"/>
                </a:cubicBezTo>
                <a:cubicBezTo>
                  <a:pt x="71437" y="233065"/>
                  <a:pt x="71318" y="232946"/>
                  <a:pt x="71199" y="232827"/>
                </a:cubicBezTo>
                <a:lnTo>
                  <a:pt x="66675" y="228540"/>
                </a:lnTo>
                <a:lnTo>
                  <a:pt x="95190" y="228540"/>
                </a:lnTo>
                <a:cubicBezTo>
                  <a:pt x="105727" y="228540"/>
                  <a:pt x="114240" y="220028"/>
                  <a:pt x="114240" y="209490"/>
                </a:cubicBezTo>
                <a:cubicBezTo>
                  <a:pt x="114240" y="198953"/>
                  <a:pt x="105727" y="190440"/>
                  <a:pt x="95190" y="190440"/>
                </a:cubicBezTo>
                <a:lnTo>
                  <a:pt x="19050" y="190500"/>
                </a:lnTo>
                <a:cubicBezTo>
                  <a:pt x="13990" y="190500"/>
                  <a:pt x="9108" y="192524"/>
                  <a:pt x="5536" y="196155"/>
                </a:cubicBezTo>
                <a:cubicBezTo>
                  <a:pt x="1965" y="199787"/>
                  <a:pt x="-60" y="204609"/>
                  <a:pt x="0" y="209729"/>
                </a:cubicBezTo>
                <a:lnTo>
                  <a:pt x="595" y="285333"/>
                </a:lnTo>
                <a:cubicBezTo>
                  <a:pt x="655" y="295870"/>
                  <a:pt x="9287" y="304324"/>
                  <a:pt x="19824" y="304205"/>
                </a:cubicBezTo>
                <a:cubicBezTo>
                  <a:pt x="30361" y="304086"/>
                  <a:pt x="38814" y="295513"/>
                  <a:pt x="38695" y="284976"/>
                </a:cubicBezTo>
                <a:lnTo>
                  <a:pt x="38457" y="254318"/>
                </a:lnTo>
                <a:lnTo>
                  <a:pt x="44827" y="260330"/>
                </a:lnTo>
                <a:cubicBezTo>
                  <a:pt x="72390" y="287774"/>
                  <a:pt x="110430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8826500" y="50546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Incremental data refresh without rebuilding</a:t>
            </a:r>
            <a:endParaRPr b="0" i="0" sz="1600" u="none" cap="none" strike="noStrike"/>
          </a:p>
        </p:txBody>
      </p:sp>
      <p:sp>
        <p:nvSpPr>
          <p:cNvPr id="57" name="Google Shape;57;p4"/>
          <p:cNvSpPr/>
          <p:nvPr/>
        </p:nvSpPr>
        <p:spPr>
          <a:xfrm>
            <a:off x="8382000" y="5588000"/>
            <a:ext cx="304800" cy="304800"/>
          </a:xfrm>
          <a:custGeom>
            <a:rect b="b" l="l" r="r" t="t"/>
            <a:pathLst>
              <a:path extrusionOk="0" h="304800" w="304800">
                <a:moveTo>
                  <a:pt x="19050" y="38100"/>
                </a:moveTo>
                <a:cubicBezTo>
                  <a:pt x="8513" y="38100"/>
                  <a:pt x="0" y="46613"/>
                  <a:pt x="0" y="57150"/>
                </a:cubicBezTo>
                <a:cubicBezTo>
                  <a:pt x="0" y="67687"/>
                  <a:pt x="8513" y="76200"/>
                  <a:pt x="19050" y="76200"/>
                </a:cubicBezTo>
                <a:lnTo>
                  <a:pt x="70664" y="76200"/>
                </a:lnTo>
                <a:cubicBezTo>
                  <a:pt x="77986" y="93047"/>
                  <a:pt x="94774" y="104775"/>
                  <a:pt x="114300" y="104775"/>
                </a:cubicBezTo>
                <a:cubicBezTo>
                  <a:pt x="133826" y="104775"/>
                  <a:pt x="150614" y="93047"/>
                  <a:pt x="157936" y="76200"/>
                </a:cubicBezTo>
                <a:lnTo>
                  <a:pt x="285750" y="76200"/>
                </a:lnTo>
                <a:cubicBezTo>
                  <a:pt x="296287" y="76200"/>
                  <a:pt x="304800" y="67687"/>
                  <a:pt x="304800" y="57150"/>
                </a:cubicBezTo>
                <a:cubicBezTo>
                  <a:pt x="304800" y="46613"/>
                  <a:pt x="296287" y="38100"/>
                  <a:pt x="285750" y="38100"/>
                </a:cubicBezTo>
                <a:lnTo>
                  <a:pt x="157936" y="38100"/>
                </a:lnTo>
                <a:cubicBezTo>
                  <a:pt x="150614" y="21253"/>
                  <a:pt x="133826" y="9525"/>
                  <a:pt x="114300" y="9525"/>
                </a:cubicBezTo>
                <a:cubicBezTo>
                  <a:pt x="94774" y="9525"/>
                  <a:pt x="77986" y="21253"/>
                  <a:pt x="70664" y="38100"/>
                </a:cubicBezTo>
                <a:lnTo>
                  <a:pt x="19050" y="38100"/>
                </a:lnTo>
                <a:close/>
                <a:moveTo>
                  <a:pt x="19050" y="133350"/>
                </a:move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165914" y="171450"/>
                </a:lnTo>
                <a:cubicBezTo>
                  <a:pt x="173236" y="188297"/>
                  <a:pt x="190024" y="200025"/>
                  <a:pt x="209550" y="200025"/>
                </a:cubicBezTo>
                <a:cubicBezTo>
                  <a:pt x="229076" y="200025"/>
                  <a:pt x="245864" y="188297"/>
                  <a:pt x="253186" y="171450"/>
                </a:cubicBez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253186" y="133350"/>
                </a:lnTo>
                <a:cubicBezTo>
                  <a:pt x="245864" y="116503"/>
                  <a:pt x="229076" y="104775"/>
                  <a:pt x="209550" y="104775"/>
                </a:cubicBezTo>
                <a:cubicBezTo>
                  <a:pt x="190024" y="104775"/>
                  <a:pt x="173236" y="116503"/>
                  <a:pt x="165914" y="133350"/>
                </a:cubicBezTo>
                <a:lnTo>
                  <a:pt x="19050" y="133350"/>
                </a:lnTo>
                <a:close/>
                <a:moveTo>
                  <a:pt x="19050" y="228600"/>
                </a:moveTo>
                <a:cubicBezTo>
                  <a:pt x="8513" y="228600"/>
                  <a:pt x="0" y="237113"/>
                  <a:pt x="0" y="247650"/>
                </a:cubicBezTo>
                <a:cubicBezTo>
                  <a:pt x="0" y="258187"/>
                  <a:pt x="8513" y="266700"/>
                  <a:pt x="19050" y="266700"/>
                </a:cubicBezTo>
                <a:lnTo>
                  <a:pt x="51614" y="266700"/>
                </a:lnTo>
                <a:cubicBezTo>
                  <a:pt x="58936" y="283547"/>
                  <a:pt x="75724" y="295275"/>
                  <a:pt x="95250" y="295275"/>
                </a:cubicBezTo>
                <a:cubicBezTo>
                  <a:pt x="114776" y="295275"/>
                  <a:pt x="131564" y="283547"/>
                  <a:pt x="138886" y="266700"/>
                </a:cubicBez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ubicBezTo>
                  <a:pt x="304800" y="237113"/>
                  <a:pt x="296287" y="228600"/>
                  <a:pt x="285750" y="228600"/>
                </a:cubicBezTo>
                <a:lnTo>
                  <a:pt x="138886" y="228600"/>
                </a:lnTo>
                <a:cubicBezTo>
                  <a:pt x="131564" y="211753"/>
                  <a:pt x="114776" y="200025"/>
                  <a:pt x="95250" y="200025"/>
                </a:cubicBezTo>
                <a:cubicBezTo>
                  <a:pt x="75724" y="200025"/>
                  <a:pt x="58936" y="211753"/>
                  <a:pt x="51614" y="228600"/>
                </a:cubicBezTo>
                <a:lnTo>
                  <a:pt x="19050" y="22860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8826500" y="55626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Interactive slicers and drill-down capabilities</a:t>
            </a:r>
            <a:endParaRPr b="0" i="0" sz="1600" u="none" cap="none" strike="noStrike"/>
          </a:p>
        </p:txBody>
      </p:sp>
      <p:sp>
        <p:nvSpPr>
          <p:cNvPr id="59" name="Google Shape;59;p4"/>
          <p:cNvSpPr/>
          <p:nvPr/>
        </p:nvSpPr>
        <p:spPr>
          <a:xfrm>
            <a:off x="8382000" y="6096000"/>
            <a:ext cx="304800" cy="304800"/>
          </a:xfrm>
          <a:custGeom>
            <a:rect b="b" l="l" r="r" t="t"/>
            <a:pathLst>
              <a:path extrusionOk="0" h="304800" w="304800">
                <a:moveTo>
                  <a:pt x="274320" y="28575"/>
                </a:moveTo>
                <a:cubicBezTo>
                  <a:pt x="274320" y="21967"/>
                  <a:pt x="271605" y="15835"/>
                  <a:pt x="267081" y="12383"/>
                </a:cubicBezTo>
                <a:cubicBezTo>
                  <a:pt x="262557" y="8930"/>
                  <a:pt x="256984" y="8573"/>
                  <a:pt x="252270" y="11549"/>
                </a:cubicBezTo>
                <a:lnTo>
                  <a:pt x="196929" y="46137"/>
                </a:lnTo>
                <a:lnTo>
                  <a:pt x="111490" y="10478"/>
                </a:lnTo>
                <a:cubicBezTo>
                  <a:pt x="107633" y="8870"/>
                  <a:pt x="103489" y="9227"/>
                  <a:pt x="99870" y="11490"/>
                </a:cubicBezTo>
                <a:lnTo>
                  <a:pt x="38910" y="49590"/>
                </a:lnTo>
                <a:cubicBezTo>
                  <a:pt x="33719" y="52864"/>
                  <a:pt x="30480" y="59472"/>
                  <a:pt x="30480" y="66675"/>
                </a:cubicBezTo>
                <a:lnTo>
                  <a:pt x="30480" y="276225"/>
                </a:lnTo>
                <a:cubicBezTo>
                  <a:pt x="30480" y="282833"/>
                  <a:pt x="33195" y="288965"/>
                  <a:pt x="37719" y="292418"/>
                </a:cubicBezTo>
                <a:cubicBezTo>
                  <a:pt x="42243" y="295870"/>
                  <a:pt x="47816" y="296227"/>
                  <a:pt x="52530" y="293251"/>
                </a:cubicBezTo>
                <a:lnTo>
                  <a:pt x="107823" y="258663"/>
                </a:lnTo>
                <a:lnTo>
                  <a:pt x="190357" y="293072"/>
                </a:lnTo>
                <a:cubicBezTo>
                  <a:pt x="188309" y="289262"/>
                  <a:pt x="186309" y="285274"/>
                  <a:pt x="184356" y="281226"/>
                </a:cubicBezTo>
                <a:cubicBezTo>
                  <a:pt x="179118" y="270331"/>
                  <a:pt x="173927" y="257830"/>
                  <a:pt x="170069" y="244435"/>
                </a:cubicBezTo>
                <a:lnTo>
                  <a:pt x="121872" y="224373"/>
                </a:lnTo>
                <a:lnTo>
                  <a:pt x="121872" y="55007"/>
                </a:lnTo>
                <a:lnTo>
                  <a:pt x="182832" y="80427"/>
                </a:lnTo>
                <a:lnTo>
                  <a:pt x="182832" y="139541"/>
                </a:lnTo>
                <a:cubicBezTo>
                  <a:pt x="197596" y="118229"/>
                  <a:pt x="219504" y="104775"/>
                  <a:pt x="243792" y="104775"/>
                </a:cubicBezTo>
                <a:cubicBezTo>
                  <a:pt x="254556" y="104775"/>
                  <a:pt x="264843" y="107394"/>
                  <a:pt x="274272" y="112216"/>
                </a:cubicBezTo>
                <a:lnTo>
                  <a:pt x="274320" y="28575"/>
                </a:lnTo>
                <a:close/>
                <a:moveTo>
                  <a:pt x="243840" y="133350"/>
                </a:moveTo>
                <a:cubicBezTo>
                  <a:pt x="212265" y="133350"/>
                  <a:pt x="186690" y="164783"/>
                  <a:pt x="186690" y="203537"/>
                </a:cubicBezTo>
                <a:cubicBezTo>
                  <a:pt x="186690" y="244554"/>
                  <a:pt x="217218" y="293072"/>
                  <a:pt x="233648" y="316230"/>
                </a:cubicBezTo>
                <a:cubicBezTo>
                  <a:pt x="239173" y="323969"/>
                  <a:pt x="248555" y="323969"/>
                  <a:pt x="254079" y="316230"/>
                </a:cubicBezTo>
                <a:cubicBezTo>
                  <a:pt x="270510" y="293072"/>
                  <a:pt x="301038" y="244554"/>
                  <a:pt x="301038" y="203537"/>
                </a:cubicBezTo>
                <a:cubicBezTo>
                  <a:pt x="301038" y="164783"/>
                  <a:pt x="275463" y="133350"/>
                  <a:pt x="243888" y="133350"/>
                </a:cubicBezTo>
                <a:close/>
                <a:moveTo>
                  <a:pt x="224790" y="204787"/>
                </a:moveTo>
                <a:cubicBezTo>
                  <a:pt x="224790" y="191645"/>
                  <a:pt x="233326" y="180975"/>
                  <a:pt x="243840" y="180975"/>
                </a:cubicBezTo>
                <a:cubicBezTo>
                  <a:pt x="254354" y="180975"/>
                  <a:pt x="262890" y="191645"/>
                  <a:pt x="262890" y="204787"/>
                </a:cubicBezTo>
                <a:cubicBezTo>
                  <a:pt x="262890" y="217930"/>
                  <a:pt x="254354" y="228600"/>
                  <a:pt x="243840" y="228600"/>
                </a:cubicBezTo>
                <a:cubicBezTo>
                  <a:pt x="233326" y="228600"/>
                  <a:pt x="224790" y="217930"/>
                  <a:pt x="224790" y="204787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8826500" y="60706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Geographic analysis with interactive U.S. map</a:t>
            </a:r>
            <a:endParaRPr b="0" i="0" sz="1600" u="none" cap="none" strike="noStrike"/>
          </a:p>
        </p:txBody>
      </p:sp>
      <p:sp>
        <p:nvSpPr>
          <p:cNvPr id="61" name="Google Shape;61;p4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2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62000" y="381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ARCHITECTURE &amp; TECH STACK</a:t>
            </a:r>
            <a:endParaRPr b="0" i="0" sz="2800" u="none" cap="none" strike="noStrike"/>
          </a:p>
        </p:txBody>
      </p:sp>
      <p:sp>
        <p:nvSpPr>
          <p:cNvPr id="69" name="Google Shape;69;p5"/>
          <p:cNvSpPr/>
          <p:nvPr/>
        </p:nvSpPr>
        <p:spPr>
          <a:xfrm>
            <a:off x="762000" y="952500"/>
            <a:ext cx="1016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762000" y="12065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Pipeline</a:t>
            </a:r>
            <a:endParaRPr b="0" i="0" sz="2200" u="none" cap="none" strike="noStrike"/>
          </a:p>
        </p:txBody>
      </p:sp>
      <p:sp>
        <p:nvSpPr>
          <p:cNvPr id="71" name="Google Shape;71;p5"/>
          <p:cNvSpPr/>
          <p:nvPr/>
        </p:nvSpPr>
        <p:spPr>
          <a:xfrm>
            <a:off x="762000" y="1714500"/>
            <a:ext cx="1651000" cy="762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762000" y="17145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Excel</a:t>
            </a:r>
            <a:endParaRPr b="0" i="0" sz="13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</a:t>
            </a:r>
            <a:endParaRPr b="0" i="0" sz="1300" u="none" cap="none" strike="noStrike"/>
          </a:p>
        </p:txBody>
      </p:sp>
      <p:cxnSp>
        <p:nvCxnSpPr>
          <p:cNvPr id="73" name="Google Shape;73;p5"/>
          <p:cNvCxnSpPr/>
          <p:nvPr/>
        </p:nvCxnSpPr>
        <p:spPr>
          <a:xfrm>
            <a:off x="2476500" y="1968500"/>
            <a:ext cx="381000" cy="0"/>
          </a:xfrm>
          <a:prstGeom prst="straightConnector1">
            <a:avLst/>
          </a:prstGeom>
          <a:noFill/>
          <a:ln cap="flat" cmpd="sng" w="25400">
            <a:solidFill>
              <a:srgbClr val="C9A227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4" name="Google Shape;74;p5"/>
          <p:cNvSpPr/>
          <p:nvPr/>
        </p:nvSpPr>
        <p:spPr>
          <a:xfrm>
            <a:off x="2921000" y="1714500"/>
            <a:ext cx="1651000" cy="762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2921000" y="17145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CSV</a:t>
            </a:r>
            <a:endParaRPr b="0" i="0" sz="13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Conversion</a:t>
            </a:r>
            <a:endParaRPr b="0" i="0" sz="1300" u="none" cap="none" strike="noStrike"/>
          </a:p>
        </p:txBody>
      </p:sp>
      <p:cxnSp>
        <p:nvCxnSpPr>
          <p:cNvPr id="76" name="Google Shape;76;p5"/>
          <p:cNvCxnSpPr/>
          <p:nvPr/>
        </p:nvCxnSpPr>
        <p:spPr>
          <a:xfrm>
            <a:off x="4635500" y="1968500"/>
            <a:ext cx="381000" cy="0"/>
          </a:xfrm>
          <a:prstGeom prst="straightConnector1">
            <a:avLst/>
          </a:prstGeom>
          <a:noFill/>
          <a:ln cap="flat" cmpd="sng" w="25400">
            <a:solidFill>
              <a:srgbClr val="C9A227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7" name="Google Shape;77;p5"/>
          <p:cNvSpPr/>
          <p:nvPr/>
        </p:nvSpPr>
        <p:spPr>
          <a:xfrm>
            <a:off x="5080000" y="1714500"/>
            <a:ext cx="1651000" cy="762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5080000" y="17145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PostgreSQL</a:t>
            </a:r>
            <a:endParaRPr b="0" i="0" sz="13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Database</a:t>
            </a:r>
            <a:endParaRPr b="0" i="0" sz="1300" u="none" cap="none" strike="noStrike"/>
          </a:p>
        </p:txBody>
      </p:sp>
      <p:cxnSp>
        <p:nvCxnSpPr>
          <p:cNvPr id="79" name="Google Shape;79;p5"/>
          <p:cNvCxnSpPr/>
          <p:nvPr/>
        </p:nvCxnSpPr>
        <p:spPr>
          <a:xfrm>
            <a:off x="6794500" y="1968500"/>
            <a:ext cx="381000" cy="0"/>
          </a:xfrm>
          <a:prstGeom prst="straightConnector1">
            <a:avLst/>
          </a:prstGeom>
          <a:noFill/>
          <a:ln cap="flat" cmpd="sng" w="25400">
            <a:solidFill>
              <a:srgbClr val="C9A227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0" name="Google Shape;80;p5"/>
          <p:cNvSpPr/>
          <p:nvPr/>
        </p:nvSpPr>
        <p:spPr>
          <a:xfrm>
            <a:off x="7239000" y="1714500"/>
            <a:ext cx="1651000" cy="762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7239000" y="17145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SQL</a:t>
            </a:r>
            <a:endParaRPr b="0" i="0" sz="13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Queries</a:t>
            </a:r>
            <a:endParaRPr b="0" i="0" sz="1300" u="none" cap="none" strike="noStrike"/>
          </a:p>
        </p:txBody>
      </p:sp>
      <p:cxnSp>
        <p:nvCxnSpPr>
          <p:cNvPr id="82" name="Google Shape;82;p5"/>
          <p:cNvCxnSpPr/>
          <p:nvPr/>
        </p:nvCxnSpPr>
        <p:spPr>
          <a:xfrm>
            <a:off x="8953500" y="1968500"/>
            <a:ext cx="381000" cy="0"/>
          </a:xfrm>
          <a:prstGeom prst="straightConnector1">
            <a:avLst/>
          </a:prstGeom>
          <a:noFill/>
          <a:ln cap="flat" cmpd="sng" w="25400">
            <a:solidFill>
              <a:srgbClr val="C9A227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3" name="Google Shape;83;p5"/>
          <p:cNvSpPr/>
          <p:nvPr/>
        </p:nvSpPr>
        <p:spPr>
          <a:xfrm>
            <a:off x="9398000" y="1714500"/>
            <a:ext cx="1651000" cy="762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9398000" y="17145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 BI</a:t>
            </a:r>
            <a:endParaRPr b="0" i="0" sz="13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</a:t>
            </a:r>
            <a:endParaRPr b="0" i="0" sz="1300" u="none" cap="none" strike="noStrike"/>
          </a:p>
        </p:txBody>
      </p:sp>
      <p:cxnSp>
        <p:nvCxnSpPr>
          <p:cNvPr id="85" name="Google Shape;85;p5"/>
          <p:cNvCxnSpPr/>
          <p:nvPr/>
        </p:nvCxnSpPr>
        <p:spPr>
          <a:xfrm>
            <a:off x="11112500" y="1968500"/>
            <a:ext cx="381000" cy="0"/>
          </a:xfrm>
          <a:prstGeom prst="straightConnector1">
            <a:avLst/>
          </a:prstGeom>
          <a:noFill/>
          <a:ln cap="flat" cmpd="sng" w="25400">
            <a:solidFill>
              <a:srgbClr val="C9A227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6" name="Google Shape;86;p5"/>
          <p:cNvSpPr/>
          <p:nvPr/>
        </p:nvSpPr>
        <p:spPr>
          <a:xfrm>
            <a:off x="11557000" y="1714500"/>
            <a:ext cx="1651000" cy="762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11557000" y="17145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</a:t>
            </a:r>
            <a:endParaRPr b="0" i="0" sz="13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Insights</a:t>
            </a:r>
            <a:endParaRPr b="0" i="0" sz="1300" u="none" cap="none" strike="noStrike"/>
          </a:p>
        </p:txBody>
      </p:sp>
      <p:cxnSp>
        <p:nvCxnSpPr>
          <p:cNvPr id="88" name="Google Shape;88;p5"/>
          <p:cNvCxnSpPr/>
          <p:nvPr/>
        </p:nvCxnSpPr>
        <p:spPr>
          <a:xfrm>
            <a:off x="5969000" y="2476500"/>
            <a:ext cx="0" cy="317500"/>
          </a:xfrm>
          <a:prstGeom prst="straightConnector1">
            <a:avLst/>
          </a:prstGeom>
          <a:noFill/>
          <a:ln cap="flat" cmpd="sng" w="25400">
            <a:solidFill>
              <a:srgbClr val="636E7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5"/>
          <p:cNvCxnSpPr/>
          <p:nvPr/>
        </p:nvCxnSpPr>
        <p:spPr>
          <a:xfrm>
            <a:off x="5969000" y="2794000"/>
            <a:ext cx="3937000" cy="0"/>
          </a:xfrm>
          <a:prstGeom prst="straightConnector1">
            <a:avLst/>
          </a:prstGeom>
          <a:noFill/>
          <a:ln cap="flat" cmpd="sng" w="25400">
            <a:solidFill>
              <a:srgbClr val="636E7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5"/>
          <p:cNvCxnSpPr/>
          <p:nvPr/>
        </p:nvCxnSpPr>
        <p:spPr>
          <a:xfrm>
            <a:off x="5969000" y="2794000"/>
            <a:ext cx="0" cy="190500"/>
          </a:xfrm>
          <a:prstGeom prst="straightConnector1">
            <a:avLst/>
          </a:prstGeom>
          <a:noFill/>
          <a:ln cap="flat" cmpd="sng" w="25400">
            <a:solidFill>
              <a:srgbClr val="636E7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5"/>
          <p:cNvCxnSpPr/>
          <p:nvPr/>
        </p:nvCxnSpPr>
        <p:spPr>
          <a:xfrm>
            <a:off x="9906000" y="2794000"/>
            <a:ext cx="0" cy="190500"/>
          </a:xfrm>
          <a:prstGeom prst="straightConnector1">
            <a:avLst/>
          </a:prstGeom>
          <a:noFill/>
          <a:ln cap="flat" cmpd="sng" w="25400">
            <a:solidFill>
              <a:srgbClr val="636E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5"/>
          <p:cNvSpPr/>
          <p:nvPr/>
        </p:nvSpPr>
        <p:spPr>
          <a:xfrm>
            <a:off x="5080000" y="3048000"/>
            <a:ext cx="1778000" cy="50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5080000" y="30480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 Dashboard</a:t>
            </a:r>
            <a:endParaRPr b="0" i="0" sz="1200" u="none" cap="none" strike="noStrike"/>
          </a:p>
        </p:txBody>
      </p:sp>
      <p:sp>
        <p:nvSpPr>
          <p:cNvPr id="94" name="Google Shape;94;p5"/>
          <p:cNvSpPr/>
          <p:nvPr/>
        </p:nvSpPr>
        <p:spPr>
          <a:xfrm>
            <a:off x="8953500" y="3048000"/>
            <a:ext cx="1905000" cy="50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8953500" y="30480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Transaction Dashboard</a:t>
            </a:r>
            <a:endParaRPr b="0" i="0" sz="1200" u="none" cap="none" strike="noStrike"/>
          </a:p>
        </p:txBody>
      </p:sp>
      <p:sp>
        <p:nvSpPr>
          <p:cNvPr id="96" name="Google Shape;96;p5"/>
          <p:cNvSpPr/>
          <p:nvPr/>
        </p:nvSpPr>
        <p:spPr>
          <a:xfrm>
            <a:off x="762000" y="39370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Technology Stack</a:t>
            </a:r>
            <a:endParaRPr b="0" i="0" sz="2200" u="none" cap="none" strike="noStrike"/>
          </a:p>
        </p:txBody>
      </p:sp>
      <p:graphicFrame>
        <p:nvGraphicFramePr>
          <p:cNvPr id="97" name="Google Shape;97;p5"/>
          <p:cNvGraphicFramePr/>
          <p:nvPr/>
        </p:nvGraphicFramePr>
        <p:xfrm>
          <a:off x="762000" y="444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{D3445BED-3FCB-4CA9-AA3D-FA52769822C1}</a:tableStyleId>
              </a:tblPr>
              <a:tblGrid>
                <a:gridCol w="2400300"/>
                <a:gridCol w="4457700"/>
              </a:tblGrid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Technology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Purpose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Power BI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Dashboard Development &amp; Visualization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PostgreSQL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Database Management &amp; Storage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SQL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Data Querying &amp; Table Creation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Power Query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Data Cleaning &amp; Transformation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DAX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KPI Calculations &amp; Measures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Excel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Raw Dataset Source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CSV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Data Import Format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8" name="Google Shape;98;p5"/>
          <p:cNvSpPr/>
          <p:nvPr/>
        </p:nvSpPr>
        <p:spPr>
          <a:xfrm>
            <a:off x="8382000" y="3937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Repository Structure</a:t>
            </a:r>
            <a:endParaRPr b="0" i="0" sz="2200" u="none" cap="none" strike="noStrike"/>
          </a:p>
        </p:txBody>
      </p:sp>
      <p:sp>
        <p:nvSpPr>
          <p:cNvPr id="99" name="Google Shape;99;p5"/>
          <p:cNvSpPr/>
          <p:nvPr/>
        </p:nvSpPr>
        <p:spPr>
          <a:xfrm>
            <a:off x="8382000" y="4445000"/>
            <a:ext cx="7112000" cy="393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8636000" y="4635500"/>
            <a:ext cx="6604000" cy="3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r>
              <a:rPr b="1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Dataset/</a:t>
            </a:r>
            <a:endParaRPr b="0" i="0" sz="14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customer.csv, credit_card.csv</a:t>
            </a:r>
            <a:endParaRPr b="0" i="0" sz="14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cust_add.csv, cc_add.csv</a:t>
            </a:r>
            <a:endParaRPr b="0" i="0" sz="14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r>
              <a:rPr b="1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SQL/</a:t>
            </a:r>
            <a:endParaRPr b="0" i="0" sz="14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Sql_Queries.sql</a:t>
            </a:r>
            <a:endParaRPr b="0" i="0" sz="14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r>
              <a:rPr b="1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Dashboard/</a:t>
            </a:r>
            <a:endParaRPr b="0" i="0" sz="14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Credit_Card_Financial_Dashboard.pbix</a:t>
            </a:r>
            <a:endParaRPr b="0" i="0" sz="14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r>
              <a:rPr b="1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Images/</a:t>
            </a:r>
            <a:endParaRPr b="0" i="0" sz="14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Dashboard screenshots &amp; exports</a:t>
            </a:r>
            <a:endParaRPr b="0" i="0" sz="1400" u="none" cap="none" strike="noStrike"/>
          </a:p>
        </p:txBody>
      </p:sp>
      <p:sp>
        <p:nvSpPr>
          <p:cNvPr id="101" name="Google Shape;101;p5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2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762000" y="381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DATA PIPELINE &amp; POSTGRESQL</a:t>
            </a:r>
            <a:endParaRPr b="0" i="0" sz="2800" u="none" cap="none" strike="noStrike"/>
          </a:p>
        </p:txBody>
      </p:sp>
      <p:sp>
        <p:nvSpPr>
          <p:cNvPr id="109" name="Google Shape;109;p6"/>
          <p:cNvSpPr/>
          <p:nvPr/>
        </p:nvSpPr>
        <p:spPr>
          <a:xfrm>
            <a:off x="762000" y="952500"/>
            <a:ext cx="1016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762000" y="1270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PostgreSQL Integration</a:t>
            </a:r>
            <a:endParaRPr b="0" i="0" sz="2200" u="none" cap="none" strike="noStrike"/>
          </a:p>
        </p:txBody>
      </p:sp>
      <p:sp>
        <p:nvSpPr>
          <p:cNvPr id="111" name="Google Shape;111;p6"/>
          <p:cNvSpPr/>
          <p:nvPr/>
        </p:nvSpPr>
        <p:spPr>
          <a:xfrm>
            <a:off x="762000" y="1778000"/>
            <a:ext cx="68580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Excel datasets were converted to CSV and imported into PostgreSQL using the </a:t>
            </a:r>
            <a:r>
              <a:rPr b="1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COPY</a:t>
            </a:r>
            <a:r>
              <a:rPr b="0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command. Two relational tables were created: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r>
              <a:rPr b="1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customer_detail</a:t>
            </a:r>
            <a:r>
              <a:rPr b="0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demographics, income, satisfaction</a:t>
            </a:r>
            <a:endParaRPr b="0" i="0" sz="18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r>
              <a:rPr b="1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creditcard_detail</a:t>
            </a:r>
            <a:r>
              <a:rPr b="0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transactions, revenue, card data</a:t>
            </a:r>
            <a:endParaRPr b="0" i="0" sz="1800" u="none" cap="none" strike="noStrike"/>
          </a:p>
        </p:txBody>
      </p:sp>
      <p:sp>
        <p:nvSpPr>
          <p:cNvPr id="112" name="Google Shape;112;p6"/>
          <p:cNvSpPr/>
          <p:nvPr/>
        </p:nvSpPr>
        <p:spPr>
          <a:xfrm>
            <a:off x="762000" y="4318000"/>
            <a:ext cx="6858000" cy="228600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952500" y="4445000"/>
            <a:ext cx="6477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8C1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 TABLE</a:t>
            </a:r>
            <a:r>
              <a:rPr b="0" i="0" lang="en-US" sz="1300" u="none" cap="none" strike="noStrike">
                <a:solidFill>
                  <a:srgbClr val="E8E8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customer_detail (...);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8C1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 TABLE</a:t>
            </a:r>
            <a:r>
              <a:rPr b="0" i="0" lang="en-US" sz="1300" u="none" cap="none" strike="noStrike">
                <a:solidFill>
                  <a:srgbClr val="E8E8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creditcard_detail (...);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COPY</a:t>
            </a:r>
            <a:r>
              <a:rPr b="0" i="0" lang="en-US" sz="1300" u="none" cap="none" strike="noStrike">
                <a:solidFill>
                  <a:srgbClr val="E8E8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customer_detail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8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r>
              <a:rPr b="0" i="0" lang="en-US" sz="1300" u="none" cap="none" strike="noStrike">
                <a:solidFill>
                  <a:srgbClr val="98C1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</a:t>
            </a:r>
            <a:r>
              <a:rPr b="0" i="0" lang="en-US" sz="1300" u="none" cap="none" strike="noStrike">
                <a:solidFill>
                  <a:srgbClr val="E8E8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300" u="none" cap="none" strike="noStrike">
                <a:solidFill>
                  <a:srgbClr val="98C1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'customer.csv'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8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r>
              <a:rPr b="0" i="0" lang="en-US" sz="13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DELIMITER</a:t>
            </a:r>
            <a:r>
              <a:rPr b="0" i="0" lang="en-US" sz="1300" u="none" cap="none" strike="noStrike">
                <a:solidFill>
                  <a:srgbClr val="E8E8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',' </a:t>
            </a:r>
            <a:r>
              <a:rPr b="0" i="0" lang="en-US" sz="13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CSV HEADER</a:t>
            </a:r>
            <a:r>
              <a:rPr b="0" i="0" lang="en-US" sz="1300" u="none" cap="none" strike="noStrike">
                <a:solidFill>
                  <a:srgbClr val="E8E8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</a:t>
            </a:r>
            <a:endParaRPr b="0" i="0" sz="1300" u="none" cap="none" strike="noStrike"/>
          </a:p>
        </p:txBody>
      </p:sp>
      <p:sp>
        <p:nvSpPr>
          <p:cNvPr id="114" name="Google Shape;114;p6"/>
          <p:cNvSpPr/>
          <p:nvPr/>
        </p:nvSpPr>
        <p:spPr>
          <a:xfrm>
            <a:off x="762000" y="6731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Workflow Steps</a:t>
            </a:r>
            <a:endParaRPr b="0" i="0" sz="2200" u="none" cap="none" strike="noStrike"/>
          </a:p>
        </p:txBody>
      </p:sp>
      <p:sp>
        <p:nvSpPr>
          <p:cNvPr id="115" name="Google Shape;115;p6"/>
          <p:cNvSpPr/>
          <p:nvPr/>
        </p:nvSpPr>
        <p:spPr>
          <a:xfrm>
            <a:off x="762000" y="7175500"/>
            <a:ext cx="6858000" cy="1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Collect raw Excel datasets  </a:t>
            </a:r>
            <a:r>
              <a:rPr b="1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Convert to CSV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Create PostgreSQL database  </a:t>
            </a:r>
            <a:r>
              <a:rPr b="1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Import CSV via COPY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Connect PostgreSQL to Power BI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Build data model  </a:t>
            </a:r>
            <a:r>
              <a:rPr b="1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Create DAX measures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Build dashboards  </a:t>
            </a:r>
            <a:r>
              <a:rPr b="1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Publish insights</a:t>
            </a:r>
            <a:endParaRPr b="0" i="0" sz="1400" u="none" cap="none" strike="noStrike"/>
          </a:p>
        </p:txBody>
      </p:sp>
      <p:sp>
        <p:nvSpPr>
          <p:cNvPr id="116" name="Google Shape;116;p6"/>
          <p:cNvSpPr/>
          <p:nvPr/>
        </p:nvSpPr>
        <p:spPr>
          <a:xfrm>
            <a:off x="8382000" y="1270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PostgreSQL Import (pgAdmin)</a:t>
            </a:r>
            <a:endParaRPr b="0" i="0" sz="2200" u="none" cap="none" strike="noStrike"/>
          </a:p>
        </p:txBody>
      </p:sp>
      <p:pic>
        <p:nvPicPr>
          <p:cNvPr descr="https://kimi-img.moonshot.cn/pub/slides/okc/koumofwgx3hee/mnt/agents/upload/postgresql_import.png" id="117" name="Google Shape;1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1825650"/>
            <a:ext cx="7112002" cy="4350787"/>
          </a:xfrm>
          <a:prstGeom prst="rect">
            <a:avLst/>
          </a:prstGeom>
          <a:noFill/>
          <a:ln>
            <a:noFill/>
          </a:ln>
          <a:effectLst>
            <a:outerShdw blurRad="127000" rotWithShape="0" algn="bl" dir="5400000" dist="50800">
              <a:srgbClr val="000000">
                <a:alpha val="8235"/>
              </a:srgbClr>
            </a:outerShdw>
          </a:effectLst>
        </p:spPr>
      </p:pic>
      <p:sp>
        <p:nvSpPr>
          <p:cNvPr id="118" name="Google Shape;118;p6"/>
          <p:cNvSpPr/>
          <p:nvPr/>
        </p:nvSpPr>
        <p:spPr>
          <a:xfrm>
            <a:off x="8382000" y="64770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CSV data successfully imported into PostgreSQL tables using COPY commands</a:t>
            </a:r>
            <a:endParaRPr b="0" i="0" sz="1200" u="none" cap="none" strike="noStrike"/>
          </a:p>
        </p:txBody>
      </p:sp>
      <p:sp>
        <p:nvSpPr>
          <p:cNvPr id="119" name="Google Shape;119;p6"/>
          <p:cNvSpPr/>
          <p:nvPr/>
        </p:nvSpPr>
        <p:spPr>
          <a:xfrm>
            <a:off x="8382000" y="7048500"/>
            <a:ext cx="342900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8572500" y="71755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CUSTOMER DATASET</a:t>
            </a:r>
            <a:endParaRPr b="0" i="0" sz="1400" u="none" cap="none" strike="noStrike"/>
          </a:p>
        </p:txBody>
      </p:sp>
      <p:sp>
        <p:nvSpPr>
          <p:cNvPr id="121" name="Google Shape;121;p6"/>
          <p:cNvSpPr/>
          <p:nvPr/>
        </p:nvSpPr>
        <p:spPr>
          <a:xfrm>
            <a:off x="8572500" y="7493000"/>
            <a:ext cx="3048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Age, Gender, Income, Education, Occupation, State, Dependents, Satisfaction</a:t>
            </a:r>
            <a:endParaRPr b="0" i="0" sz="1200" u="none" cap="none" strike="noStrike"/>
          </a:p>
        </p:txBody>
      </p:sp>
      <p:sp>
        <p:nvSpPr>
          <p:cNvPr id="122" name="Google Shape;122;p6"/>
          <p:cNvSpPr/>
          <p:nvPr/>
        </p:nvSpPr>
        <p:spPr>
          <a:xfrm>
            <a:off x="12065000" y="7048500"/>
            <a:ext cx="342900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2255500" y="71755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CREDIT CARD DATASET</a:t>
            </a:r>
            <a:endParaRPr b="0" i="0" sz="1400" u="none" cap="none" strike="noStrike"/>
          </a:p>
        </p:txBody>
      </p:sp>
      <p:sp>
        <p:nvSpPr>
          <p:cNvPr id="124" name="Google Shape;124;p6"/>
          <p:cNvSpPr/>
          <p:nvPr/>
        </p:nvSpPr>
        <p:spPr>
          <a:xfrm>
            <a:off x="12255500" y="7493000"/>
            <a:ext cx="3048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Revenue, Interest, Transaction Amount, Card Category, Expenditure, Quarter, Week</a:t>
            </a:r>
            <a:endParaRPr b="0" i="0" sz="1200" u="none" cap="none" strike="noStrike"/>
          </a:p>
        </p:txBody>
      </p:sp>
      <p:sp>
        <p:nvSpPr>
          <p:cNvPr id="125" name="Google Shape;125;p6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2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762000" y="381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RELATIONAL DATA MODEL</a:t>
            </a:r>
            <a:endParaRPr b="0" i="0" sz="2800" u="none" cap="none" strike="noStrike"/>
          </a:p>
        </p:txBody>
      </p:sp>
      <p:sp>
        <p:nvSpPr>
          <p:cNvPr id="133" name="Google Shape;133;p7"/>
          <p:cNvSpPr/>
          <p:nvPr/>
        </p:nvSpPr>
        <p:spPr>
          <a:xfrm>
            <a:off x="762000" y="952500"/>
            <a:ext cx="1016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762000" y="1270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Design</a:t>
            </a:r>
            <a:endParaRPr b="0" i="0" sz="2200" u="none" cap="none" strike="noStrike"/>
          </a:p>
        </p:txBody>
      </p:sp>
      <p:sp>
        <p:nvSpPr>
          <p:cNvPr id="135" name="Google Shape;135;p7"/>
          <p:cNvSpPr/>
          <p:nvPr/>
        </p:nvSpPr>
        <p:spPr>
          <a:xfrm>
            <a:off x="762000" y="1778000"/>
            <a:ext cx="6858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tables are connected through </a:t>
            </a:r>
            <a:r>
              <a:rPr b="1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client_num</a:t>
            </a:r>
            <a:r>
              <a:rPr b="0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creating a one-to-many relationship in Power BI. This enables cross-table analysis linking customer demographics with transaction behavior.</a:t>
            </a:r>
            <a:endParaRPr b="0" i="0" sz="1800" u="none" cap="none" strike="noStrike"/>
          </a:p>
        </p:txBody>
      </p:sp>
      <p:sp>
        <p:nvSpPr>
          <p:cNvPr id="136" name="Google Shape;136;p7"/>
          <p:cNvSpPr/>
          <p:nvPr/>
        </p:nvSpPr>
        <p:spPr>
          <a:xfrm>
            <a:off x="762000" y="3492500"/>
            <a:ext cx="6858000" cy="101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1016000" y="3619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customer_detail</a:t>
            </a:r>
            <a:r>
              <a:rPr b="0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r>
              <a:rPr b="0" i="0" lang="en-US" sz="16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(1)</a:t>
            </a:r>
            <a:r>
              <a:rPr b="0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————  </a:t>
            </a:r>
            <a:r>
              <a:rPr b="0" i="0" lang="en-US" sz="16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(*)</a:t>
            </a:r>
            <a:r>
              <a:rPr b="0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creditcard_detail</a:t>
            </a:r>
            <a:endParaRPr b="0" i="0" sz="16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Joined on client_num | One Customer → Many Transactions</a:t>
            </a:r>
            <a:endParaRPr b="0" i="0" sz="1600" u="none" cap="none" strike="noStrike"/>
          </a:p>
        </p:txBody>
      </p:sp>
      <p:sp>
        <p:nvSpPr>
          <p:cNvPr id="138" name="Google Shape;138;p7"/>
          <p:cNvSpPr/>
          <p:nvPr/>
        </p:nvSpPr>
        <p:spPr>
          <a:xfrm>
            <a:off x="762000" y="4826000"/>
            <a:ext cx="3175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CUSTOMER_DETAIL</a:t>
            </a:r>
            <a:endParaRPr b="0" i="0" sz="1600" u="none" cap="none" strike="noStrike"/>
          </a:p>
        </p:txBody>
      </p:sp>
      <p:sp>
        <p:nvSpPr>
          <p:cNvPr id="139" name="Google Shape;139;p7"/>
          <p:cNvSpPr/>
          <p:nvPr/>
        </p:nvSpPr>
        <p:spPr>
          <a:xfrm>
            <a:off x="762000" y="5232400"/>
            <a:ext cx="3175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client_num </a:t>
            </a:r>
            <a:r>
              <a:rPr b="0" i="0" lang="en-US" sz="14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(PK)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customer_age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gender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education_level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customer_job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income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state_cd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cust_satisfaction_score</a:t>
            </a:r>
            <a:endParaRPr b="0" i="0" sz="1400" u="none" cap="none" strike="noStrike"/>
          </a:p>
        </p:txBody>
      </p:sp>
      <p:sp>
        <p:nvSpPr>
          <p:cNvPr id="140" name="Google Shape;140;p7"/>
          <p:cNvSpPr/>
          <p:nvPr/>
        </p:nvSpPr>
        <p:spPr>
          <a:xfrm>
            <a:off x="4318000" y="4826000"/>
            <a:ext cx="3302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CREDITCARD_DETAIL</a:t>
            </a:r>
            <a:endParaRPr b="0" i="0" sz="1600" u="none" cap="none" strike="noStrike"/>
          </a:p>
        </p:txBody>
      </p:sp>
      <p:sp>
        <p:nvSpPr>
          <p:cNvPr id="141" name="Google Shape;141;p7"/>
          <p:cNvSpPr/>
          <p:nvPr/>
        </p:nvSpPr>
        <p:spPr>
          <a:xfrm>
            <a:off x="4318000" y="5232400"/>
            <a:ext cx="3302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client_num </a:t>
            </a:r>
            <a:r>
              <a:rPr b="0" i="0" lang="en-US" sz="14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(FK)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card_category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revenue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interest_earned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total_trans_amt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total_trans_ct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exp_type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week_num / qtr</a:t>
            </a:r>
            <a:endParaRPr b="0" i="0" sz="1400" u="none" cap="none" strike="noStrike"/>
          </a:p>
        </p:txBody>
      </p:sp>
      <p:sp>
        <p:nvSpPr>
          <p:cNvPr id="142" name="Google Shape;142;p7"/>
          <p:cNvSpPr/>
          <p:nvPr/>
        </p:nvSpPr>
        <p:spPr>
          <a:xfrm>
            <a:off x="8382000" y="1270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 BI Data Model View</a:t>
            </a:r>
            <a:endParaRPr b="0" i="0" sz="2200" u="none" cap="none" strike="noStrike"/>
          </a:p>
        </p:txBody>
      </p:sp>
      <p:pic>
        <p:nvPicPr>
          <p:cNvPr descr="https://kimi-img.moonshot.cn/pub/slides/okc/koumofwgx3hee/mnt/agents/upload/data_model.png" id="143" name="Google Shape;143;p7"/>
          <p:cNvPicPr preferRelativeResize="0"/>
          <p:nvPr/>
        </p:nvPicPr>
        <p:blipFill rotWithShape="1">
          <a:blip r:embed="rId3">
            <a:alphaModFix/>
          </a:blip>
          <a:srcRect b="-2785" l="8038" r="20954" t="12082"/>
          <a:stretch/>
        </p:blipFill>
        <p:spPr>
          <a:xfrm>
            <a:off x="8139325" y="2036100"/>
            <a:ext cx="7597351" cy="4309799"/>
          </a:xfrm>
          <a:prstGeom prst="rect">
            <a:avLst/>
          </a:prstGeom>
          <a:noFill/>
          <a:ln>
            <a:noFill/>
          </a:ln>
          <a:effectLst>
            <a:outerShdw blurRad="127000" rotWithShape="0" algn="bl" dir="5400000" dist="50800">
              <a:srgbClr val="000000">
                <a:alpha val="8235"/>
              </a:srgbClr>
            </a:outerShdw>
          </a:effectLst>
        </p:spPr>
      </p:pic>
      <p:sp>
        <p:nvSpPr>
          <p:cNvPr id="144" name="Google Shape;144;p7"/>
          <p:cNvSpPr/>
          <p:nvPr/>
        </p:nvSpPr>
        <p:spPr>
          <a:xfrm>
            <a:off x="8382000" y="711200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KEY DAX MEASURES</a:t>
            </a:r>
            <a:endParaRPr b="0" i="0" sz="1600" u="none" cap="none" strike="noStrike"/>
          </a:p>
        </p:txBody>
      </p:sp>
      <p:sp>
        <p:nvSpPr>
          <p:cNvPr id="145" name="Google Shape;145;p7"/>
          <p:cNvSpPr/>
          <p:nvPr/>
        </p:nvSpPr>
        <p:spPr>
          <a:xfrm>
            <a:off x="8382000" y="7493000"/>
            <a:ext cx="7112000" cy="101600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8572500" y="7556500"/>
            <a:ext cx="6731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Revenue</a:t>
            </a:r>
            <a:r>
              <a:rPr b="0" i="0" lang="en-US" sz="1200" u="none" cap="none" strike="noStrike">
                <a:solidFill>
                  <a:srgbClr val="E8E8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= SUM(creditcard_detail[Revenue])</a:t>
            </a:r>
            <a:endParaRPr b="0" i="0" sz="12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 Income</a:t>
            </a:r>
            <a:r>
              <a:rPr b="0" i="0" lang="en-US" sz="1200" u="none" cap="none" strike="noStrike">
                <a:solidFill>
                  <a:srgbClr val="E8E8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= SUM(customer_detail[income])</a:t>
            </a:r>
            <a:endParaRPr b="0" i="0" sz="12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Satisfaction</a:t>
            </a:r>
            <a:r>
              <a:rPr b="0" i="0" lang="en-US" sz="1200" u="none" cap="none" strike="noStrike">
                <a:solidFill>
                  <a:srgbClr val="E8E8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= AVERAGE(customer_detail[cust_satisfaction_score])</a:t>
            </a:r>
            <a:endParaRPr b="0" i="0" sz="1200" u="none" cap="none" strike="noStrike"/>
          </a:p>
        </p:txBody>
      </p:sp>
      <p:sp>
        <p:nvSpPr>
          <p:cNvPr id="147" name="Google Shape;147;p7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12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762000" y="381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CUSTOMER DASHBOARD</a:t>
            </a:r>
            <a:endParaRPr b="0" i="0" sz="2800" u="none" cap="none" strike="noStrike"/>
          </a:p>
        </p:txBody>
      </p:sp>
      <p:sp>
        <p:nvSpPr>
          <p:cNvPr id="155" name="Google Shape;155;p8"/>
          <p:cNvSpPr/>
          <p:nvPr/>
        </p:nvSpPr>
        <p:spPr>
          <a:xfrm>
            <a:off x="762000" y="952500"/>
            <a:ext cx="1016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762000" y="1206500"/>
            <a:ext cx="5486100" cy="10161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25" lIns="73125" spcFirstLastPara="1" rIns="73125" wrap="square" tIns="7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914390" y="1257297"/>
            <a:ext cx="1269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$587M</a:t>
            </a:r>
            <a:endParaRPr b="0" i="0" sz="2080" u="none" cap="none" strike="noStrike"/>
          </a:p>
        </p:txBody>
      </p:sp>
      <p:sp>
        <p:nvSpPr>
          <p:cNvPr id="158" name="Google Shape;158;p8"/>
          <p:cNvSpPr/>
          <p:nvPr/>
        </p:nvSpPr>
        <p:spPr>
          <a:xfrm>
            <a:off x="914390" y="1785584"/>
            <a:ext cx="1269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Income</a:t>
            </a:r>
            <a:endParaRPr b="0" i="0" sz="880" u="none" cap="none" strike="noStrike"/>
          </a:p>
        </p:txBody>
      </p:sp>
      <p:sp>
        <p:nvSpPr>
          <p:cNvPr id="159" name="Google Shape;159;p8"/>
          <p:cNvSpPr/>
          <p:nvPr/>
        </p:nvSpPr>
        <p:spPr>
          <a:xfrm>
            <a:off x="2235107" y="1358890"/>
            <a:ext cx="10200" cy="7113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73125" lIns="73125" spcFirstLastPara="1" rIns="73125" wrap="square" tIns="7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2285904" y="1257297"/>
            <a:ext cx="132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$56.5M</a:t>
            </a:r>
            <a:endParaRPr b="0" i="0" sz="2080" u="none" cap="none" strike="noStrike"/>
          </a:p>
        </p:txBody>
      </p:sp>
      <p:sp>
        <p:nvSpPr>
          <p:cNvPr id="161" name="Google Shape;161;p8"/>
          <p:cNvSpPr/>
          <p:nvPr/>
        </p:nvSpPr>
        <p:spPr>
          <a:xfrm>
            <a:off x="2285904" y="1785584"/>
            <a:ext cx="1320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 Revenue</a:t>
            </a:r>
            <a:endParaRPr b="0" i="0" sz="880" u="none" cap="none" strike="noStrike"/>
          </a:p>
        </p:txBody>
      </p:sp>
      <p:sp>
        <p:nvSpPr>
          <p:cNvPr id="162" name="Google Shape;162;p8"/>
          <p:cNvSpPr/>
          <p:nvPr/>
        </p:nvSpPr>
        <p:spPr>
          <a:xfrm>
            <a:off x="3657418" y="1358890"/>
            <a:ext cx="10200" cy="7113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73125" lIns="73125" spcFirstLastPara="1" rIns="73125" wrap="square" tIns="7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3708214" y="1257297"/>
            <a:ext cx="132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$7.98M</a:t>
            </a:r>
            <a:endParaRPr b="0" i="0" sz="2080" u="none" cap="none" strike="noStrike"/>
          </a:p>
        </p:txBody>
      </p:sp>
      <p:sp>
        <p:nvSpPr>
          <p:cNvPr id="164" name="Google Shape;164;p8"/>
          <p:cNvSpPr/>
          <p:nvPr/>
        </p:nvSpPr>
        <p:spPr>
          <a:xfrm>
            <a:off x="3708214" y="1785584"/>
            <a:ext cx="1320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Interest Earned</a:t>
            </a:r>
            <a:endParaRPr b="0" i="0" sz="880" u="none" cap="none" strike="noStrike"/>
          </a:p>
        </p:txBody>
      </p:sp>
      <p:sp>
        <p:nvSpPr>
          <p:cNvPr id="165" name="Google Shape;165;p8"/>
          <p:cNvSpPr/>
          <p:nvPr/>
        </p:nvSpPr>
        <p:spPr>
          <a:xfrm>
            <a:off x="5079728" y="1358890"/>
            <a:ext cx="10200" cy="7113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73125" lIns="73125" spcFirstLastPara="1" rIns="73125" wrap="square" tIns="7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5130525" y="1257297"/>
            <a:ext cx="10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3.19</a:t>
            </a:r>
            <a:endParaRPr b="0" i="0" sz="2080" u="none" cap="none" strike="noStrike"/>
          </a:p>
        </p:txBody>
      </p:sp>
      <p:sp>
        <p:nvSpPr>
          <p:cNvPr id="167" name="Google Shape;167;p8"/>
          <p:cNvSpPr/>
          <p:nvPr/>
        </p:nvSpPr>
        <p:spPr>
          <a:xfrm>
            <a:off x="5130525" y="1785584"/>
            <a:ext cx="1016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Satisfaction</a:t>
            </a:r>
            <a:endParaRPr b="0" i="0" sz="880" u="none" cap="none" strike="noStrike"/>
          </a:p>
        </p:txBody>
      </p:sp>
      <p:sp>
        <p:nvSpPr>
          <p:cNvPr id="168" name="Google Shape;168;p8"/>
          <p:cNvSpPr/>
          <p:nvPr/>
        </p:nvSpPr>
        <p:spPr>
          <a:xfrm>
            <a:off x="762000" y="273050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DASHBOARD FEATURES</a:t>
            </a:r>
            <a:endParaRPr b="0" i="0" sz="1600" u="none" cap="none" strike="noStrike"/>
          </a:p>
        </p:txBody>
      </p:sp>
      <p:sp>
        <p:nvSpPr>
          <p:cNvPr id="169" name="Google Shape;169;p8"/>
          <p:cNvSpPr/>
          <p:nvPr/>
        </p:nvSpPr>
        <p:spPr>
          <a:xfrm>
            <a:off x="762000" y="3149600"/>
            <a:ext cx="6858000" cy="3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Weekly Revenue Trend with gender breakdown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Revenue by Income Group (Very High to Very Low)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Revenue by Age Group (20-30 through 60+)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Revenue by Education Level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Revenue by State with interactive U.S. map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Customer Dependency Analysis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Dynamic slicers: Quarter, Gender, Card Category</a:t>
            </a:r>
            <a:endParaRPr b="0" i="0" sz="1500" u="none" cap="none" strike="noStrike"/>
          </a:p>
        </p:txBody>
      </p:sp>
      <p:sp>
        <p:nvSpPr>
          <p:cNvPr id="170" name="Google Shape;170;p8"/>
          <p:cNvSpPr/>
          <p:nvPr/>
        </p:nvSpPr>
        <p:spPr>
          <a:xfrm>
            <a:off x="762000" y="6604000"/>
            <a:ext cx="15123900" cy="1650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1016000" y="6731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TOP INSIGHT</a:t>
            </a:r>
            <a:endParaRPr b="0" i="0" sz="1400" u="none" cap="none" strike="noStrike"/>
          </a:p>
        </p:txBody>
      </p:sp>
      <p:sp>
        <p:nvSpPr>
          <p:cNvPr id="172" name="Google Shape;172;p8"/>
          <p:cNvSpPr/>
          <p:nvPr/>
        </p:nvSpPr>
        <p:spPr>
          <a:xfrm>
            <a:off x="1016000" y="7086600"/>
            <a:ext cx="635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Customers aged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40-60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generate nearly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77%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of total revenue. Graduate-level customers contribute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41%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($23M) of all revenue.</a:t>
            </a:r>
            <a:endParaRPr b="0" i="0" sz="1500" u="none" cap="none" strike="noStrike"/>
          </a:p>
        </p:txBody>
      </p:sp>
      <p:pic>
        <p:nvPicPr>
          <p:cNvPr descr="https://kimi-img.moonshot.cn/pub/slides/okc/koumofwgx3hee/mnt/agents/upload/customer_dashboard.png" id="173" name="Google Shape;1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2850" y="381000"/>
            <a:ext cx="9322899" cy="5852387"/>
          </a:xfrm>
          <a:prstGeom prst="rect">
            <a:avLst/>
          </a:prstGeom>
          <a:noFill/>
          <a:ln>
            <a:noFill/>
          </a:ln>
          <a:effectLst>
            <a:outerShdw blurRad="152400" rotWithShape="0" algn="bl" dir="5400000" dist="50800">
              <a:srgbClr val="000000">
                <a:alpha val="12549"/>
              </a:srgbClr>
            </a:outerShdw>
          </a:effectLst>
        </p:spPr>
      </p:pic>
      <p:sp>
        <p:nvSpPr>
          <p:cNvPr id="174" name="Google Shape;174;p8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0" i="0" sz="12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762000" y="381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TRANSACTION DASHBOARD</a:t>
            </a:r>
            <a:endParaRPr b="0" i="0" sz="2800" u="none" cap="none" strike="noStrike"/>
          </a:p>
        </p:txBody>
      </p:sp>
      <p:sp>
        <p:nvSpPr>
          <p:cNvPr id="182" name="Google Shape;182;p9"/>
          <p:cNvSpPr/>
          <p:nvPr/>
        </p:nvSpPr>
        <p:spPr>
          <a:xfrm>
            <a:off x="762000" y="952500"/>
            <a:ext cx="1016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762000" y="1206500"/>
            <a:ext cx="6603900" cy="1223100"/>
          </a:xfrm>
          <a:prstGeom prst="rect">
            <a:avLst/>
          </a:prstGeom>
          <a:solidFill>
            <a:srgbClr val="FFFFFF"/>
          </a:solidFill>
          <a:ln cap="flat" cmpd="sng" w="122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050" lIns="88050" spcFirstLastPara="1" rIns="88050" wrap="square" tIns="8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945444" y="1267648"/>
            <a:ext cx="15285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4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$56.5M</a:t>
            </a:r>
            <a:endParaRPr b="0" i="0" sz="2504" u="none" cap="none" strike="noStrike"/>
          </a:p>
        </p:txBody>
      </p:sp>
      <p:sp>
        <p:nvSpPr>
          <p:cNvPr id="185" name="Google Shape;185;p9"/>
          <p:cNvSpPr/>
          <p:nvPr/>
        </p:nvSpPr>
        <p:spPr>
          <a:xfrm>
            <a:off x="945444" y="1903589"/>
            <a:ext cx="15285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9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Revenue</a:t>
            </a:r>
            <a:endParaRPr b="0" i="0" sz="1059" u="none" cap="none" strike="noStrike"/>
          </a:p>
        </p:txBody>
      </p:sp>
      <p:sp>
        <p:nvSpPr>
          <p:cNvPr id="186" name="Google Shape;186;p9"/>
          <p:cNvSpPr/>
          <p:nvPr/>
        </p:nvSpPr>
        <p:spPr>
          <a:xfrm>
            <a:off x="2535296" y="1389944"/>
            <a:ext cx="12300" cy="856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88050" lIns="88050" spcFirstLastPara="1" rIns="88050" wrap="square" tIns="8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2596444" y="1267648"/>
            <a:ext cx="15900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4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$7.98M</a:t>
            </a:r>
            <a:endParaRPr b="0" i="0" sz="2504" u="none" cap="none" strike="noStrike"/>
          </a:p>
        </p:txBody>
      </p:sp>
      <p:sp>
        <p:nvSpPr>
          <p:cNvPr id="188" name="Google Shape;188;p9"/>
          <p:cNvSpPr/>
          <p:nvPr/>
        </p:nvSpPr>
        <p:spPr>
          <a:xfrm>
            <a:off x="2596444" y="1903589"/>
            <a:ext cx="1590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9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Interest Earned</a:t>
            </a:r>
            <a:endParaRPr b="0" i="0" sz="1059" u="none" cap="none" strike="noStrike"/>
          </a:p>
        </p:txBody>
      </p:sp>
      <p:sp>
        <p:nvSpPr>
          <p:cNvPr id="189" name="Google Shape;189;p9"/>
          <p:cNvSpPr/>
          <p:nvPr/>
        </p:nvSpPr>
        <p:spPr>
          <a:xfrm>
            <a:off x="4247444" y="1389944"/>
            <a:ext cx="12300" cy="856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88050" lIns="88050" spcFirstLastPara="1" rIns="88050" wrap="square" tIns="8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4308593" y="1267648"/>
            <a:ext cx="15900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4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$45.5M</a:t>
            </a:r>
            <a:endParaRPr b="0" i="0" sz="2504" u="none" cap="none" strike="noStrike"/>
          </a:p>
        </p:txBody>
      </p:sp>
      <p:sp>
        <p:nvSpPr>
          <p:cNvPr id="191" name="Google Shape;191;p9"/>
          <p:cNvSpPr/>
          <p:nvPr/>
        </p:nvSpPr>
        <p:spPr>
          <a:xfrm>
            <a:off x="4308593" y="1903589"/>
            <a:ext cx="1590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9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Transaction Amt</a:t>
            </a:r>
            <a:endParaRPr b="0" i="0" sz="1059" u="none" cap="none" strike="noStrike"/>
          </a:p>
        </p:txBody>
      </p:sp>
      <p:sp>
        <p:nvSpPr>
          <p:cNvPr id="192" name="Google Shape;192;p9"/>
          <p:cNvSpPr/>
          <p:nvPr/>
        </p:nvSpPr>
        <p:spPr>
          <a:xfrm>
            <a:off x="5959593" y="1389944"/>
            <a:ext cx="12300" cy="856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88050" lIns="88050" spcFirstLastPara="1" rIns="88050" wrap="square" tIns="8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6020741" y="1267648"/>
            <a:ext cx="12231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4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667K</a:t>
            </a:r>
            <a:endParaRPr b="0" i="0" sz="2504" u="none" cap="none" strike="noStrike"/>
          </a:p>
        </p:txBody>
      </p:sp>
      <p:sp>
        <p:nvSpPr>
          <p:cNvPr id="194" name="Google Shape;194;p9"/>
          <p:cNvSpPr/>
          <p:nvPr/>
        </p:nvSpPr>
        <p:spPr>
          <a:xfrm>
            <a:off x="6020741" y="1903589"/>
            <a:ext cx="12231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9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Transactions</a:t>
            </a:r>
            <a:endParaRPr b="0" i="0" sz="1059" u="none" cap="none" strike="noStrike"/>
          </a:p>
        </p:txBody>
      </p:sp>
      <p:sp>
        <p:nvSpPr>
          <p:cNvPr id="195" name="Google Shape;195;p9"/>
          <p:cNvSpPr/>
          <p:nvPr/>
        </p:nvSpPr>
        <p:spPr>
          <a:xfrm>
            <a:off x="762000" y="273050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DASHBOARD FEATURES</a:t>
            </a:r>
            <a:endParaRPr b="0" i="0" sz="1600" u="none" cap="none" strike="noStrike"/>
          </a:p>
        </p:txBody>
      </p:sp>
      <p:sp>
        <p:nvSpPr>
          <p:cNvPr id="196" name="Google Shape;196;p9"/>
          <p:cNvSpPr/>
          <p:nvPr/>
        </p:nvSpPr>
        <p:spPr>
          <a:xfrm>
            <a:off x="762000" y="3149600"/>
            <a:ext cx="6858000" cy="3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Quarterly Revenue &amp; Transaction Count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Revenue by Card Category (Blue/Silver/Gold/Platinum)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Revenue by Expenditure Type (Bills, Entertainment, etc.)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Revenue by Job Type &amp; Education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Revenue by Usage Type (Swipe/Chip/Online)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Quarterly Transaction Comparison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Dynamic slicers: Week, Quarter, Gender</a:t>
            </a:r>
            <a:endParaRPr b="0" i="0" sz="1500" u="none" cap="none" strike="noStrike"/>
          </a:p>
        </p:txBody>
      </p:sp>
      <p:sp>
        <p:nvSpPr>
          <p:cNvPr id="197" name="Google Shape;197;p9"/>
          <p:cNvSpPr/>
          <p:nvPr/>
        </p:nvSpPr>
        <p:spPr>
          <a:xfrm>
            <a:off x="762000" y="6604000"/>
            <a:ext cx="15279000" cy="1650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1016000" y="6731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TOP INSIGHT</a:t>
            </a:r>
            <a:endParaRPr b="0" i="0" sz="1400" u="none" cap="none" strike="noStrike"/>
          </a:p>
        </p:txBody>
      </p:sp>
      <p:sp>
        <p:nvSpPr>
          <p:cNvPr id="199" name="Google Shape;199;p9"/>
          <p:cNvSpPr/>
          <p:nvPr/>
        </p:nvSpPr>
        <p:spPr>
          <a:xfrm>
            <a:off x="1016000" y="7086600"/>
            <a:ext cx="635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Swipe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transactions dominate at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62.6%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of all spending.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Bills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account for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24.5%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the largest expenditure category. Q4 is the strongest quarter.</a:t>
            </a:r>
            <a:endParaRPr b="0" i="0" sz="1500" u="none" cap="none" strike="noStrike"/>
          </a:p>
        </p:txBody>
      </p:sp>
      <p:pic>
        <p:nvPicPr>
          <p:cNvPr descr="https://kimi-img.moonshot.cn/pub/slides/okc/koumofwgx3hee/mnt/agents/upload/transaction_dashboard.png" id="200" name="Google Shape;2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5050" y="381000"/>
            <a:ext cx="8295925" cy="5718849"/>
          </a:xfrm>
          <a:prstGeom prst="rect">
            <a:avLst/>
          </a:prstGeom>
          <a:noFill/>
          <a:ln>
            <a:noFill/>
          </a:ln>
          <a:effectLst>
            <a:outerShdw blurRad="152400" rotWithShape="0" algn="bl" dir="5400000" dist="50800">
              <a:srgbClr val="000000">
                <a:alpha val="12549"/>
              </a:srgbClr>
            </a:outerShdw>
          </a:effectLst>
        </p:spPr>
      </p:pic>
      <p:sp>
        <p:nvSpPr>
          <p:cNvPr id="201" name="Google Shape;201;p9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b="0" i="0" sz="12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0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INCREMENTAL DATA REFRESH — WEEK 53</a:t>
            </a:r>
            <a:endParaRPr b="0" i="0" sz="2800" u="none" cap="none" strike="noStrike"/>
          </a:p>
        </p:txBody>
      </p:sp>
      <p:sp>
        <p:nvSpPr>
          <p:cNvPr id="209" name="Google Shape;209;p10"/>
          <p:cNvSpPr/>
          <p:nvPr/>
        </p:nvSpPr>
        <p:spPr>
          <a:xfrm>
            <a:off x="762000" y="952500"/>
            <a:ext cx="1016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762000" y="1206500"/>
            <a:ext cx="71493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When Week 53 data became available, it was appended directly into PostgreSQL. Power BI reflected all changes </a:t>
            </a:r>
            <a:r>
              <a:rPr b="1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automatically</a:t>
            </a:r>
            <a:r>
              <a:rPr b="0" i="0" lang="en-US" sz="18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without modifying the data model.</a:t>
            </a:r>
            <a:endParaRPr b="0" i="0" sz="1800" u="none" cap="none" strike="noStrike"/>
          </a:p>
        </p:txBody>
      </p:sp>
      <p:graphicFrame>
        <p:nvGraphicFramePr>
          <p:cNvPr id="211" name="Google Shape;211;p10"/>
          <p:cNvGraphicFramePr/>
          <p:nvPr/>
        </p:nvGraphicFramePr>
        <p:xfrm>
          <a:off x="762000" y="2019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{D3445BED-3FCB-4CA9-AA3D-FA52769822C1}</a:tableStyleId>
              </a:tblPr>
              <a:tblGrid>
                <a:gridCol w="2118325"/>
                <a:gridCol w="1412225"/>
                <a:gridCol w="1412225"/>
                <a:gridCol w="2118325"/>
              </a:tblGrid>
              <a:tr h="5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Metric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Week 52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Week 53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Growth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5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Total Records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10,108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10,293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9A2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+185 (+1.83%)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Revenue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$55.32M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$56.52M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9A2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+2.17%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</a:tr>
              <a:tr h="5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Income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$575.91M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$587.60M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9A2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+2.03%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Interest Earned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$7.84M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$7.98M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9A2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+1.77%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</a:tr>
              <a:tr h="5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Transaction Amt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$44.52M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$45.53M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9A2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+2.27%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3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Transactions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656K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667K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9A2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+1.68%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EB"/>
                    </a:solidFill>
                  </a:tcPr>
                </a:tc>
              </a:tr>
            </a:tbl>
          </a:graphicData>
        </a:graphic>
      </p:graphicFrame>
      <p:sp>
        <p:nvSpPr>
          <p:cNvPr id="212" name="Google Shape;212;p10"/>
          <p:cNvSpPr/>
          <p:nvPr/>
        </p:nvSpPr>
        <p:spPr>
          <a:xfrm>
            <a:off x="762000" y="604405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REFRESH PROCESS</a:t>
            </a:r>
            <a:endParaRPr b="0" i="0" sz="1600" u="none" cap="none" strike="noStrike"/>
          </a:p>
        </p:txBody>
      </p:sp>
      <p:sp>
        <p:nvSpPr>
          <p:cNvPr id="213" name="Google Shape;213;p10"/>
          <p:cNvSpPr/>
          <p:nvPr/>
        </p:nvSpPr>
        <p:spPr>
          <a:xfrm>
            <a:off x="762000" y="6488550"/>
            <a:ext cx="7061100" cy="1206600"/>
          </a:xfrm>
          <a:prstGeom prst="rect">
            <a:avLst/>
          </a:prstGeom>
          <a:solidFill>
            <a:srgbClr val="FFFFFF"/>
          </a:solidFill>
          <a:ln cap="flat" cmpd="sng" w="1507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575" lIns="108575" spcFirstLastPara="1" rIns="108575" wrap="square" tIns="10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1014183" y="6714769"/>
            <a:ext cx="1412100" cy="67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108575" lIns="108575" spcFirstLastPara="1" rIns="108575" wrap="square" tIns="10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1014183" y="6714769"/>
            <a:ext cx="14121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Import CSV</a:t>
            </a:r>
            <a:endParaRPr b="0" i="0" sz="1425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via COPY</a:t>
            </a:r>
            <a:endParaRPr b="0" i="0" sz="1425" u="none" cap="none" strike="noStrike"/>
          </a:p>
        </p:txBody>
      </p:sp>
      <p:cxnSp>
        <p:nvCxnSpPr>
          <p:cNvPr id="216" name="Google Shape;216;p10"/>
          <p:cNvCxnSpPr/>
          <p:nvPr/>
        </p:nvCxnSpPr>
        <p:spPr>
          <a:xfrm>
            <a:off x="2946400" y="6869550"/>
            <a:ext cx="317400" cy="0"/>
          </a:xfrm>
          <a:prstGeom prst="straightConnector1">
            <a:avLst/>
          </a:prstGeom>
          <a:noFill/>
          <a:ln cap="flat" cmpd="sng" w="25400">
            <a:solidFill>
              <a:srgbClr val="C9A227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17" name="Google Shape;217;p10"/>
          <p:cNvSpPr/>
          <p:nvPr/>
        </p:nvSpPr>
        <p:spPr>
          <a:xfrm>
            <a:off x="2799636" y="6714769"/>
            <a:ext cx="1412100" cy="67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108575" lIns="108575" spcFirstLastPara="1" rIns="108575" wrap="square" tIns="10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2799636" y="6714769"/>
            <a:ext cx="14121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185 Records</a:t>
            </a:r>
            <a:endParaRPr b="0" i="0" sz="1425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Appended</a:t>
            </a:r>
            <a:endParaRPr b="0" i="0" sz="1425" u="none" cap="none" strike="noStrike"/>
          </a:p>
        </p:txBody>
      </p:sp>
      <p:cxnSp>
        <p:nvCxnSpPr>
          <p:cNvPr id="219" name="Google Shape;219;p10"/>
          <p:cNvCxnSpPr/>
          <p:nvPr/>
        </p:nvCxnSpPr>
        <p:spPr>
          <a:xfrm>
            <a:off x="5194300" y="6869550"/>
            <a:ext cx="317400" cy="0"/>
          </a:xfrm>
          <a:prstGeom prst="straightConnector1">
            <a:avLst/>
          </a:prstGeom>
          <a:noFill/>
          <a:ln cap="flat" cmpd="sng" w="25400">
            <a:solidFill>
              <a:srgbClr val="C9A227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20" name="Google Shape;220;p10"/>
          <p:cNvSpPr/>
          <p:nvPr/>
        </p:nvSpPr>
        <p:spPr>
          <a:xfrm>
            <a:off x="4585090" y="6714769"/>
            <a:ext cx="1412100" cy="6786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108575" lIns="108575" spcFirstLastPara="1" rIns="108575" wrap="square" tIns="10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4585090" y="6714769"/>
            <a:ext cx="14121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 BI</a:t>
            </a:r>
            <a:endParaRPr b="0" i="0" sz="1425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Refresh</a:t>
            </a:r>
            <a:endParaRPr b="0" i="0" sz="1425" u="none" cap="none" strike="noStrike"/>
          </a:p>
        </p:txBody>
      </p:sp>
      <p:cxnSp>
        <p:nvCxnSpPr>
          <p:cNvPr id="222" name="Google Shape;222;p10"/>
          <p:cNvCxnSpPr/>
          <p:nvPr/>
        </p:nvCxnSpPr>
        <p:spPr>
          <a:xfrm>
            <a:off x="7442200" y="6869550"/>
            <a:ext cx="317400" cy="0"/>
          </a:xfrm>
          <a:prstGeom prst="straightConnector1">
            <a:avLst/>
          </a:prstGeom>
          <a:noFill/>
          <a:ln cap="flat" cmpd="sng" w="25400">
            <a:solidFill>
              <a:srgbClr val="C9A227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23" name="Google Shape;223;p10"/>
          <p:cNvSpPr/>
          <p:nvPr/>
        </p:nvSpPr>
        <p:spPr>
          <a:xfrm>
            <a:off x="6370544" y="6714769"/>
            <a:ext cx="1311300" cy="67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108575" lIns="108575" spcFirstLastPara="1" rIns="108575" wrap="square" tIns="10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6370544" y="6714769"/>
            <a:ext cx="13113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KPIs</a:t>
            </a:r>
            <a:endParaRPr b="0" i="0" sz="1425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Auto-Updated</a:t>
            </a:r>
            <a:endParaRPr b="0" i="0" sz="1425" u="none" cap="none" strike="noStrike"/>
          </a:p>
        </p:txBody>
      </p:sp>
      <p:sp>
        <p:nvSpPr>
          <p:cNvPr id="225" name="Google Shape;225;p10"/>
          <p:cNvSpPr/>
          <p:nvPr/>
        </p:nvSpPr>
        <p:spPr>
          <a:xfrm>
            <a:off x="762000" y="7822150"/>
            <a:ext cx="7061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data model changes or report redesign required. Both new files contributed primarily Blue card customer records.</a:t>
            </a:r>
            <a:endParaRPr b="0" i="0" sz="1400" u="none" cap="none" strike="noStrike"/>
          </a:p>
        </p:txBody>
      </p:sp>
      <p:sp>
        <p:nvSpPr>
          <p:cNvPr id="226" name="Google Shape;226;p10"/>
          <p:cNvSpPr/>
          <p:nvPr/>
        </p:nvSpPr>
        <p:spPr>
          <a:xfrm>
            <a:off x="8555175" y="1231900"/>
            <a:ext cx="5079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UPDATED CUSTOMER DASHBOARD</a:t>
            </a:r>
            <a:endParaRPr b="1" i="0" sz="1600" u="none" cap="none" strike="noStrike"/>
          </a:p>
        </p:txBody>
      </p:sp>
      <p:pic>
        <p:nvPicPr>
          <p:cNvPr descr="https://kimi-img.moonshot.cn/pub/slides/okc/koumofwgx3hee/mnt/agents/upload/week53_update.png" id="227" name="Google Shape;227;p10"/>
          <p:cNvPicPr preferRelativeResize="0"/>
          <p:nvPr/>
        </p:nvPicPr>
        <p:blipFill rotWithShape="1">
          <a:blip r:embed="rId3">
            <a:alphaModFix/>
          </a:blip>
          <a:srcRect b="240" l="0" r="0" t="-240"/>
          <a:stretch/>
        </p:blipFill>
        <p:spPr>
          <a:xfrm>
            <a:off x="8366425" y="1699763"/>
            <a:ext cx="7381576" cy="446922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0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b="0" i="0" sz="12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762000" y="381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KEY BUSINESS INSIGHTS</a:t>
            </a:r>
            <a:endParaRPr b="0" i="0" sz="2800" u="none" cap="none" strike="noStrike"/>
          </a:p>
        </p:txBody>
      </p:sp>
      <p:sp>
        <p:nvSpPr>
          <p:cNvPr id="236" name="Google Shape;236;p11"/>
          <p:cNvSpPr/>
          <p:nvPr/>
        </p:nvSpPr>
        <p:spPr>
          <a:xfrm>
            <a:off x="762000" y="952500"/>
            <a:ext cx="1016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62000" y="1270000"/>
            <a:ext cx="4699000" cy="2311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1016000" y="1460500"/>
            <a:ext cx="355600" cy="355600"/>
          </a:xfrm>
          <a:custGeom>
            <a:rect b="b" l="l" r="r" t="t"/>
            <a:pathLst>
              <a:path extrusionOk="0" h="355600" w="355600">
                <a:moveTo>
                  <a:pt x="0" y="88900"/>
                </a:moveTo>
                <a:lnTo>
                  <a:pt x="0" y="111125"/>
                </a:lnTo>
                <a:lnTo>
                  <a:pt x="355600" y="111125"/>
                </a:lnTo>
                <a:lnTo>
                  <a:pt x="355600" y="88900"/>
                </a:lnTo>
                <a:cubicBezTo>
                  <a:pt x="355600" y="64383"/>
                  <a:pt x="335667" y="44450"/>
                  <a:pt x="311150" y="44450"/>
                </a:cubicBezTo>
                <a:lnTo>
                  <a:pt x="44450" y="44450"/>
                </a:lnTo>
                <a:cubicBezTo>
                  <a:pt x="19933" y="44450"/>
                  <a:pt x="0" y="64383"/>
                  <a:pt x="0" y="88900"/>
                </a:cubicBezTo>
                <a:close/>
                <a:moveTo>
                  <a:pt x="0" y="144463"/>
                </a:move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144463"/>
                </a:lnTo>
                <a:lnTo>
                  <a:pt x="0" y="144463"/>
                </a:lnTo>
                <a:close/>
                <a:moveTo>
                  <a:pt x="44450" y="250031"/>
                </a:moveTo>
                <a:cubicBezTo>
                  <a:pt x="44450" y="240794"/>
                  <a:pt x="51881" y="233363"/>
                  <a:pt x="61119" y="233363"/>
                </a:cubicBezTo>
                <a:lnTo>
                  <a:pt x="94456" y="233363"/>
                </a:lnTo>
                <a:cubicBezTo>
                  <a:pt x="103694" y="233363"/>
                  <a:pt x="111125" y="240794"/>
                  <a:pt x="111125" y="250031"/>
                </a:cubicBezTo>
                <a:cubicBezTo>
                  <a:pt x="111125" y="259269"/>
                  <a:pt x="103694" y="266700"/>
                  <a:pt x="94456" y="266700"/>
                </a:cubicBezTo>
                <a:lnTo>
                  <a:pt x="61119" y="266700"/>
                </a:lnTo>
                <a:cubicBezTo>
                  <a:pt x="51881" y="266700"/>
                  <a:pt x="44450" y="259269"/>
                  <a:pt x="44450" y="250031"/>
                </a:cubicBezTo>
                <a:close/>
                <a:moveTo>
                  <a:pt x="144463" y="250031"/>
                </a:moveTo>
                <a:cubicBezTo>
                  <a:pt x="144463" y="240794"/>
                  <a:pt x="151894" y="233363"/>
                  <a:pt x="161131" y="233363"/>
                </a:cubicBez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61131" y="266700"/>
                </a:lnTo>
                <a:cubicBezTo>
                  <a:pt x="151894" y="266700"/>
                  <a:pt x="144463" y="259269"/>
                  <a:pt x="144463" y="250031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1498600" y="1460500"/>
            <a:ext cx="3683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CARD PORTFOLIO</a:t>
            </a:r>
            <a:endParaRPr b="0" i="0" sz="1600" u="none" cap="none" strike="noStrike"/>
          </a:p>
        </p:txBody>
      </p:sp>
      <p:sp>
        <p:nvSpPr>
          <p:cNvPr id="240" name="Google Shape;240;p11"/>
          <p:cNvSpPr/>
          <p:nvPr/>
        </p:nvSpPr>
        <p:spPr>
          <a:xfrm>
            <a:off x="1016000" y="1905000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83.1%</a:t>
            </a:r>
            <a:endParaRPr b="0" i="0" sz="3600" u="none" cap="none" strike="noStrike"/>
          </a:p>
        </p:txBody>
      </p:sp>
      <p:sp>
        <p:nvSpPr>
          <p:cNvPr id="241" name="Google Shape;241;p11"/>
          <p:cNvSpPr/>
          <p:nvPr/>
        </p:nvSpPr>
        <p:spPr>
          <a:xfrm>
            <a:off x="1016000" y="2540000"/>
            <a:ext cx="4191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Blue-tier cards dominate transaction value. Opportunity to grow premium card adoption (Silver 10.2%, Gold 4.6%, Platinum 2.1%).</a:t>
            </a:r>
            <a:endParaRPr b="0" i="0" sz="1400" u="none" cap="none" strike="noStrike"/>
          </a:p>
        </p:txBody>
      </p:sp>
      <p:sp>
        <p:nvSpPr>
          <p:cNvPr id="242" name="Google Shape;242;p11"/>
          <p:cNvSpPr/>
          <p:nvPr/>
        </p:nvSpPr>
        <p:spPr>
          <a:xfrm>
            <a:off x="5778500" y="1270000"/>
            <a:ext cx="4699000" cy="2311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6032500" y="1460500"/>
            <a:ext cx="355600" cy="355600"/>
          </a:xfrm>
          <a:custGeom>
            <a:rect b="b" l="l" r="r" t="t"/>
            <a:pathLst>
              <a:path extrusionOk="0" h="355600" w="355600">
                <a:moveTo>
                  <a:pt x="177800" y="11112"/>
                </a:moveTo>
                <a:cubicBezTo>
                  <a:pt x="209692" y="11112"/>
                  <a:pt x="235585" y="43478"/>
                  <a:pt x="235585" y="83344"/>
                </a:cubicBezTo>
                <a:cubicBezTo>
                  <a:pt x="235585" y="123209"/>
                  <a:pt x="209692" y="155575"/>
                  <a:pt x="177800" y="155575"/>
                </a:cubicBezTo>
                <a:cubicBezTo>
                  <a:pt x="145908" y="155575"/>
                  <a:pt x="120015" y="123209"/>
                  <a:pt x="120015" y="83344"/>
                </a:cubicBezTo>
                <a:cubicBezTo>
                  <a:pt x="120015" y="43478"/>
                  <a:pt x="145908" y="11113"/>
                  <a:pt x="177800" y="11112"/>
                </a:cubicBezTo>
                <a:close/>
                <a:moveTo>
                  <a:pt x="53340" y="61119"/>
                </a:moveTo>
                <a:cubicBezTo>
                  <a:pt x="75419" y="61119"/>
                  <a:pt x="93345" y="83526"/>
                  <a:pt x="93345" y="111125"/>
                </a:cubicBezTo>
                <a:cubicBezTo>
                  <a:pt x="93345" y="138724"/>
                  <a:pt x="75419" y="161131"/>
                  <a:pt x="53340" y="161131"/>
                </a:cubicBezTo>
                <a:cubicBezTo>
                  <a:pt x="31261" y="161131"/>
                  <a:pt x="13335" y="138724"/>
                  <a:pt x="13335" y="111125"/>
                </a:cubicBezTo>
                <a:cubicBezTo>
                  <a:pt x="13335" y="83526"/>
                  <a:pt x="31261" y="61119"/>
                  <a:pt x="53340" y="61119"/>
                </a:cubicBezTo>
                <a:close/>
                <a:moveTo>
                  <a:pt x="0" y="288925"/>
                </a:moveTo>
                <a:cubicBezTo>
                  <a:pt x="0" y="239822"/>
                  <a:pt x="31837" y="200025"/>
                  <a:pt x="71120" y="200025"/>
                </a:cubicBezTo>
                <a:cubicBezTo>
                  <a:pt x="78232" y="200025"/>
                  <a:pt x="85122" y="201345"/>
                  <a:pt x="91623" y="203775"/>
                </a:cubicBezTo>
                <a:cubicBezTo>
                  <a:pt x="73343" y="229334"/>
                  <a:pt x="62230" y="263088"/>
                  <a:pt x="62230" y="300038"/>
                </a:cubicBezTo>
                <a:lnTo>
                  <a:pt x="62230" y="311150"/>
                </a:lnTo>
                <a:cubicBezTo>
                  <a:pt x="62230" y="319068"/>
                  <a:pt x="63564" y="326569"/>
                  <a:pt x="65953" y="333375"/>
                </a:cubicBezTo>
                <a:lnTo>
                  <a:pt x="17780" y="333375"/>
                </a:lnTo>
                <a:cubicBezTo>
                  <a:pt x="7945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289647" y="333375"/>
                </a:moveTo>
                <a:cubicBezTo>
                  <a:pt x="292036" y="326569"/>
                  <a:pt x="293370" y="319068"/>
                  <a:pt x="293370" y="311150"/>
                </a:cubicBezTo>
                <a:lnTo>
                  <a:pt x="293370" y="300038"/>
                </a:lnTo>
                <a:cubicBezTo>
                  <a:pt x="293370" y="263088"/>
                  <a:pt x="282257" y="229334"/>
                  <a:pt x="263977" y="203775"/>
                </a:cubicBezTo>
                <a:cubicBezTo>
                  <a:pt x="270478" y="201345"/>
                  <a:pt x="277368" y="200025"/>
                  <a:pt x="284480" y="200025"/>
                </a:cubicBezTo>
                <a:cubicBezTo>
                  <a:pt x="323763" y="200025"/>
                  <a:pt x="355600" y="239822"/>
                  <a:pt x="355600" y="288925"/>
                </a:cubicBezTo>
                <a:lnTo>
                  <a:pt x="355600" y="311150"/>
                </a:lnTo>
                <a:cubicBezTo>
                  <a:pt x="355600" y="323443"/>
                  <a:pt x="347655" y="333375"/>
                  <a:pt x="337820" y="333375"/>
                </a:cubicBezTo>
                <a:lnTo>
                  <a:pt x="289647" y="333375"/>
                </a:lnTo>
                <a:close/>
                <a:moveTo>
                  <a:pt x="262255" y="111125"/>
                </a:moveTo>
                <a:cubicBezTo>
                  <a:pt x="262255" y="83526"/>
                  <a:pt x="280181" y="61119"/>
                  <a:pt x="302260" y="61119"/>
                </a:cubicBezTo>
                <a:cubicBezTo>
                  <a:pt x="324339" y="61119"/>
                  <a:pt x="342265" y="83526"/>
                  <a:pt x="342265" y="111125"/>
                </a:cubicBezTo>
                <a:cubicBezTo>
                  <a:pt x="342265" y="138724"/>
                  <a:pt x="324339" y="161131"/>
                  <a:pt x="302260" y="161131"/>
                </a:cubicBezTo>
                <a:cubicBezTo>
                  <a:pt x="280181" y="161131"/>
                  <a:pt x="262255" y="138724"/>
                  <a:pt x="262255" y="111125"/>
                </a:cubicBezTo>
                <a:close/>
                <a:moveTo>
                  <a:pt x="88900" y="300038"/>
                </a:moveTo>
                <a:cubicBezTo>
                  <a:pt x="88900" y="238641"/>
                  <a:pt x="128683" y="188913"/>
                  <a:pt x="177800" y="188913"/>
                </a:cubicBezTo>
                <a:cubicBezTo>
                  <a:pt x="226917" y="188913"/>
                  <a:pt x="266700" y="238641"/>
                  <a:pt x="266700" y="300038"/>
                </a:cubicBezTo>
                <a:lnTo>
                  <a:pt x="266700" y="311150"/>
                </a:lnTo>
                <a:cubicBezTo>
                  <a:pt x="266700" y="323443"/>
                  <a:pt x="258755" y="333375"/>
                  <a:pt x="248920" y="333375"/>
                </a:cubicBezTo>
                <a:lnTo>
                  <a:pt x="106680" y="333375"/>
                </a:lnTo>
                <a:cubicBezTo>
                  <a:pt x="96845" y="333375"/>
                  <a:pt x="88900" y="323443"/>
                  <a:pt x="88900" y="311150"/>
                </a:cubicBezTo>
                <a:lnTo>
                  <a:pt x="88900" y="30003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6515100" y="1460500"/>
            <a:ext cx="3683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CUSTOMER AGE</a:t>
            </a:r>
            <a:endParaRPr b="0" i="0" sz="1600" u="none" cap="none" strike="noStrike"/>
          </a:p>
        </p:txBody>
      </p:sp>
      <p:sp>
        <p:nvSpPr>
          <p:cNvPr id="245" name="Google Shape;245;p11"/>
          <p:cNvSpPr/>
          <p:nvPr/>
        </p:nvSpPr>
        <p:spPr>
          <a:xfrm>
            <a:off x="6032500" y="1905000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77%</a:t>
            </a:r>
            <a:endParaRPr b="0" i="0" sz="3600" u="none" cap="none" strike="noStrike"/>
          </a:p>
        </p:txBody>
      </p:sp>
      <p:sp>
        <p:nvSpPr>
          <p:cNvPr id="246" name="Google Shape;246;p11"/>
          <p:cNvSpPr/>
          <p:nvPr/>
        </p:nvSpPr>
        <p:spPr>
          <a:xfrm>
            <a:off x="6032500" y="2540000"/>
            <a:ext cx="4191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Customers aged 40-60 generate nearly 77% of revenue. Age 40-50 alone contributes $24.7M (43.8%).</a:t>
            </a:r>
            <a:endParaRPr b="0" i="0" sz="1400" u="none" cap="none" strike="noStrike"/>
          </a:p>
        </p:txBody>
      </p:sp>
      <p:sp>
        <p:nvSpPr>
          <p:cNvPr id="247" name="Google Shape;247;p11"/>
          <p:cNvSpPr/>
          <p:nvPr/>
        </p:nvSpPr>
        <p:spPr>
          <a:xfrm>
            <a:off x="10795000" y="1270000"/>
            <a:ext cx="4699000" cy="222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11049000" y="1460500"/>
            <a:ext cx="355600" cy="355600"/>
          </a:xfrm>
          <a:custGeom>
            <a:rect b="b" l="l" r="r" t="t"/>
            <a:pathLst>
              <a:path extrusionOk="0" h="355600" w="355600">
                <a:moveTo>
                  <a:pt x="29633" y="135989"/>
                </a:moveTo>
                <a:lnTo>
                  <a:pt x="158785" y="195788"/>
                </a:lnTo>
                <a:cubicBezTo>
                  <a:pt x="164835" y="198566"/>
                  <a:pt x="171256" y="200025"/>
                  <a:pt x="177800" y="200025"/>
                </a:cubicBezTo>
                <a:cubicBezTo>
                  <a:pt x="184344" y="200025"/>
                  <a:pt x="190765" y="198566"/>
                  <a:pt x="196815" y="195788"/>
                </a:cubicBezTo>
                <a:lnTo>
                  <a:pt x="346463" y="126474"/>
                </a:lnTo>
                <a:cubicBezTo>
                  <a:pt x="352019" y="123904"/>
                  <a:pt x="355600" y="117862"/>
                  <a:pt x="355600" y="111125"/>
                </a:cubicBezTo>
                <a:cubicBezTo>
                  <a:pt x="355600" y="104388"/>
                  <a:pt x="352019" y="98346"/>
                  <a:pt x="346463" y="95776"/>
                </a:cubicBezTo>
                <a:lnTo>
                  <a:pt x="196815" y="26462"/>
                </a:lnTo>
                <a:cubicBezTo>
                  <a:pt x="190765" y="23684"/>
                  <a:pt x="184344" y="22225"/>
                  <a:pt x="177800" y="22225"/>
                </a:cubicBezTo>
                <a:cubicBezTo>
                  <a:pt x="171256" y="22225"/>
                  <a:pt x="164835" y="23684"/>
                  <a:pt x="158785" y="26462"/>
                </a:cubicBezTo>
                <a:lnTo>
                  <a:pt x="9137" y="95776"/>
                </a:lnTo>
                <a:cubicBezTo>
                  <a:pt x="3581" y="98346"/>
                  <a:pt x="0" y="104388"/>
                  <a:pt x="0" y="111125"/>
                </a:cubicBezTo>
                <a:lnTo>
                  <a:pt x="0" y="316706"/>
                </a:lnTo>
                <a:cubicBezTo>
                  <a:pt x="0" y="325944"/>
                  <a:pt x="6606" y="333375"/>
                  <a:pt x="14817" y="333375"/>
                </a:cubicBezTo>
                <a:cubicBezTo>
                  <a:pt x="23028" y="333375"/>
                  <a:pt x="29633" y="325944"/>
                  <a:pt x="29633" y="316706"/>
                </a:cubicBezTo>
                <a:lnTo>
                  <a:pt x="29633" y="135989"/>
                </a:lnTo>
                <a:close/>
                <a:moveTo>
                  <a:pt x="59267" y="185787"/>
                </a:moveTo>
                <a:lnTo>
                  <a:pt x="59267" y="266700"/>
                </a:lnTo>
                <a:cubicBezTo>
                  <a:pt x="59267" y="303510"/>
                  <a:pt x="112360" y="333375"/>
                  <a:pt x="177800" y="333375"/>
                </a:cubicBezTo>
                <a:cubicBezTo>
                  <a:pt x="243240" y="333375"/>
                  <a:pt x="296333" y="303510"/>
                  <a:pt x="296333" y="266700"/>
                </a:cubicBezTo>
                <a:lnTo>
                  <a:pt x="296333" y="185718"/>
                </a:lnTo>
                <a:lnTo>
                  <a:pt x="208112" y="226626"/>
                </a:lnTo>
                <a:cubicBezTo>
                  <a:pt x="198482" y="231071"/>
                  <a:pt x="188233" y="233362"/>
                  <a:pt x="177800" y="233362"/>
                </a:cubicBezTo>
                <a:cubicBezTo>
                  <a:pt x="167367" y="233362"/>
                  <a:pt x="157118" y="231071"/>
                  <a:pt x="147488" y="226626"/>
                </a:cubicBezTo>
                <a:lnTo>
                  <a:pt x="59267" y="18571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11531600" y="1460500"/>
            <a:ext cx="3683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EDUCATION</a:t>
            </a:r>
            <a:endParaRPr b="0" i="0" sz="1600" u="none" cap="none" strike="noStrike"/>
          </a:p>
        </p:txBody>
      </p:sp>
      <p:sp>
        <p:nvSpPr>
          <p:cNvPr id="250" name="Google Shape;250;p11"/>
          <p:cNvSpPr/>
          <p:nvPr/>
        </p:nvSpPr>
        <p:spPr>
          <a:xfrm>
            <a:off x="11049000" y="1905000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41%</a:t>
            </a:r>
            <a:endParaRPr b="0" i="0" sz="3600" u="none" cap="none" strike="noStrike"/>
          </a:p>
        </p:txBody>
      </p:sp>
      <p:sp>
        <p:nvSpPr>
          <p:cNvPr id="251" name="Google Shape;251;p11"/>
          <p:cNvSpPr/>
          <p:nvPr/>
        </p:nvSpPr>
        <p:spPr>
          <a:xfrm>
            <a:off x="11049000" y="2540000"/>
            <a:ext cx="419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Graduate customers contribute ~$23M (41%) of total revenue — the highest-value education segment.</a:t>
            </a:r>
            <a:endParaRPr b="0" i="0" sz="1400" u="none" cap="none" strike="noStrike"/>
          </a:p>
        </p:txBody>
      </p:sp>
      <p:sp>
        <p:nvSpPr>
          <p:cNvPr id="252" name="Google Shape;252;p11"/>
          <p:cNvSpPr/>
          <p:nvPr/>
        </p:nvSpPr>
        <p:spPr>
          <a:xfrm>
            <a:off x="762000" y="3810000"/>
            <a:ext cx="4699000" cy="2349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1016000" y="4000500"/>
            <a:ext cx="355600" cy="355600"/>
          </a:xfrm>
          <a:custGeom>
            <a:rect b="b" l="l" r="r" t="t"/>
            <a:pathLst>
              <a:path extrusionOk="0" h="355600" w="355600">
                <a:moveTo>
                  <a:pt x="101600" y="27781"/>
                </a:moveTo>
                <a:cubicBezTo>
                  <a:pt x="101600" y="12432"/>
                  <a:pt x="115808" y="0"/>
                  <a:pt x="133350" y="0"/>
                </a:cubicBezTo>
                <a:cubicBezTo>
                  <a:pt x="150892" y="0"/>
                  <a:pt x="165100" y="12432"/>
                  <a:pt x="165100" y="27781"/>
                </a:cubicBezTo>
                <a:lnTo>
                  <a:pt x="165100" y="130711"/>
                </a:lnTo>
                <a:cubicBezTo>
                  <a:pt x="171847" y="125432"/>
                  <a:pt x="180737" y="122238"/>
                  <a:pt x="190500" y="122238"/>
                </a:cubicBezTo>
                <a:cubicBezTo>
                  <a:pt x="206851" y="122238"/>
                  <a:pt x="220821" y="131266"/>
                  <a:pt x="226219" y="143907"/>
                </a:cubicBezTo>
                <a:cubicBezTo>
                  <a:pt x="233204" y="137448"/>
                  <a:pt x="243046" y="133350"/>
                  <a:pt x="254000" y="133350"/>
                </a:cubicBezTo>
                <a:cubicBezTo>
                  <a:pt x="274082" y="133350"/>
                  <a:pt x="290513" y="146893"/>
                  <a:pt x="292021" y="164118"/>
                </a:cubicBezTo>
                <a:cubicBezTo>
                  <a:pt x="298768" y="158770"/>
                  <a:pt x="307737" y="155575"/>
                  <a:pt x="317500" y="155575"/>
                </a:cubicBezTo>
                <a:cubicBezTo>
                  <a:pt x="338534" y="155575"/>
                  <a:pt x="355600" y="170507"/>
                  <a:pt x="355600" y="188913"/>
                </a:cubicBezTo>
                <a:lnTo>
                  <a:pt x="355600" y="266700"/>
                </a:lnTo>
                <a:cubicBezTo>
                  <a:pt x="355600" y="315803"/>
                  <a:pt x="310118" y="355600"/>
                  <a:pt x="254000" y="355600"/>
                </a:cubicBezTo>
                <a:lnTo>
                  <a:pt x="186293" y="355600"/>
                </a:lnTo>
                <a:cubicBezTo>
                  <a:pt x="182324" y="355600"/>
                  <a:pt x="178435" y="355392"/>
                  <a:pt x="174625" y="354905"/>
                </a:cubicBezTo>
                <a:cubicBezTo>
                  <a:pt x="130731" y="351016"/>
                  <a:pt x="90329" y="331291"/>
                  <a:pt x="63500" y="300038"/>
                </a:cubicBezTo>
                <a:lnTo>
                  <a:pt x="6350" y="233363"/>
                </a:lnTo>
                <a:cubicBezTo>
                  <a:pt x="-4207" y="221069"/>
                  <a:pt x="-1349" y="203706"/>
                  <a:pt x="12700" y="194469"/>
                </a:cubicBezTo>
                <a:cubicBezTo>
                  <a:pt x="26749" y="185231"/>
                  <a:pt x="46593" y="187732"/>
                  <a:pt x="57150" y="200025"/>
                </a:cubicBezTo>
                <a:lnTo>
                  <a:pt x="101600" y="251906"/>
                </a:lnTo>
                <a:lnTo>
                  <a:pt x="101600" y="27781"/>
                </a:lnTo>
                <a:close/>
                <a:moveTo>
                  <a:pt x="190500" y="211138"/>
                </a:moveTo>
                <a:cubicBezTo>
                  <a:pt x="190500" y="205026"/>
                  <a:pt x="184785" y="200025"/>
                  <a:pt x="177800" y="200025"/>
                </a:cubicBezTo>
                <a:cubicBezTo>
                  <a:pt x="170815" y="200025"/>
                  <a:pt x="165100" y="205026"/>
                  <a:pt x="165100" y="211138"/>
                </a:cubicBezTo>
                <a:lnTo>
                  <a:pt x="165100" y="277813"/>
                </a:lnTo>
                <a:cubicBezTo>
                  <a:pt x="165100" y="283924"/>
                  <a:pt x="170815" y="288925"/>
                  <a:pt x="177800" y="288925"/>
                </a:cubicBezTo>
                <a:cubicBezTo>
                  <a:pt x="184785" y="288925"/>
                  <a:pt x="190500" y="283924"/>
                  <a:pt x="190500" y="277813"/>
                </a:cubicBezTo>
                <a:lnTo>
                  <a:pt x="190500" y="211138"/>
                </a:lnTo>
                <a:close/>
                <a:moveTo>
                  <a:pt x="228600" y="200025"/>
                </a:moveTo>
                <a:cubicBezTo>
                  <a:pt x="221615" y="200025"/>
                  <a:pt x="215900" y="205026"/>
                  <a:pt x="215900" y="211138"/>
                </a:cubicBezTo>
                <a:lnTo>
                  <a:pt x="215900" y="277813"/>
                </a:lnTo>
                <a:cubicBezTo>
                  <a:pt x="215900" y="283924"/>
                  <a:pt x="221615" y="288925"/>
                  <a:pt x="228600" y="288925"/>
                </a:cubicBezTo>
                <a:cubicBezTo>
                  <a:pt x="235585" y="288925"/>
                  <a:pt x="241300" y="283924"/>
                  <a:pt x="241300" y="277813"/>
                </a:cubicBezTo>
                <a:lnTo>
                  <a:pt x="241300" y="211138"/>
                </a:lnTo>
                <a:cubicBezTo>
                  <a:pt x="241300" y="205026"/>
                  <a:pt x="235585" y="200025"/>
                  <a:pt x="228600" y="200025"/>
                </a:cubicBezTo>
                <a:close/>
                <a:moveTo>
                  <a:pt x="292100" y="211138"/>
                </a:moveTo>
                <a:cubicBezTo>
                  <a:pt x="292100" y="205026"/>
                  <a:pt x="286385" y="200025"/>
                  <a:pt x="279400" y="200025"/>
                </a:cubicBezTo>
                <a:cubicBezTo>
                  <a:pt x="272415" y="200025"/>
                  <a:pt x="266700" y="205026"/>
                  <a:pt x="266700" y="211138"/>
                </a:cubicBezTo>
                <a:lnTo>
                  <a:pt x="266700" y="277813"/>
                </a:lnTo>
                <a:cubicBezTo>
                  <a:pt x="266700" y="283924"/>
                  <a:pt x="272415" y="288925"/>
                  <a:pt x="279400" y="288925"/>
                </a:cubicBezTo>
                <a:cubicBezTo>
                  <a:pt x="286385" y="288925"/>
                  <a:pt x="292100" y="283924"/>
                  <a:pt x="292100" y="277813"/>
                </a:cubicBezTo>
                <a:lnTo>
                  <a:pt x="292100" y="21113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1498600" y="4000500"/>
            <a:ext cx="3683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TRANSACTION METHOD</a:t>
            </a:r>
            <a:endParaRPr b="0" i="0" sz="1600" u="none" cap="none" strike="noStrike"/>
          </a:p>
        </p:txBody>
      </p:sp>
      <p:sp>
        <p:nvSpPr>
          <p:cNvPr id="255" name="Google Shape;255;p11"/>
          <p:cNvSpPr/>
          <p:nvPr/>
        </p:nvSpPr>
        <p:spPr>
          <a:xfrm>
            <a:off x="1016000" y="4445000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62.6%</a:t>
            </a:r>
            <a:endParaRPr b="0" i="0" sz="3600" u="none" cap="none" strike="noStrike"/>
          </a:p>
        </p:txBody>
      </p:sp>
      <p:sp>
        <p:nvSpPr>
          <p:cNvPr id="256" name="Google Shape;256;p11"/>
          <p:cNvSpPr/>
          <p:nvPr/>
        </p:nvSpPr>
        <p:spPr>
          <a:xfrm>
            <a:off x="1016000" y="5080000"/>
            <a:ext cx="4191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Swipe transactions remain dominant. Chip (31.1%) and Online (6.3%) show digital payment growth potential.</a:t>
            </a:r>
            <a:endParaRPr b="0" i="0" sz="1400" u="none" cap="none" strike="noStrike"/>
          </a:p>
        </p:txBody>
      </p:sp>
      <p:sp>
        <p:nvSpPr>
          <p:cNvPr id="257" name="Google Shape;257;p11"/>
          <p:cNvSpPr/>
          <p:nvPr/>
        </p:nvSpPr>
        <p:spPr>
          <a:xfrm>
            <a:off x="5778500" y="3810000"/>
            <a:ext cx="4699000" cy="222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6032500" y="4000500"/>
            <a:ext cx="355600" cy="355600"/>
          </a:xfrm>
          <a:custGeom>
            <a:rect b="b" l="l" r="r" t="t"/>
            <a:pathLst>
              <a:path extrusionOk="0" h="355600" w="355600">
                <a:moveTo>
                  <a:pt x="13335" y="-11112"/>
                </a:moveTo>
                <a:cubicBezTo>
                  <a:pt x="5945" y="-11112"/>
                  <a:pt x="0" y="-3681"/>
                  <a:pt x="0" y="5556"/>
                </a:cubicBezTo>
                <a:cubicBezTo>
                  <a:pt x="0" y="14794"/>
                  <a:pt x="5945" y="22225"/>
                  <a:pt x="13335" y="22225"/>
                </a:cubicBezTo>
                <a:lnTo>
                  <a:pt x="38505" y="22225"/>
                </a:lnTo>
                <a:cubicBezTo>
                  <a:pt x="40672" y="22225"/>
                  <a:pt x="42505" y="24170"/>
                  <a:pt x="42894" y="26809"/>
                </a:cubicBezTo>
                <a:lnTo>
                  <a:pt x="71842" y="225653"/>
                </a:lnTo>
                <a:cubicBezTo>
                  <a:pt x="75287" y="249406"/>
                  <a:pt x="91845" y="266700"/>
                  <a:pt x="111181" y="266700"/>
                </a:cubicBezTo>
                <a:lnTo>
                  <a:pt x="253365" y="266700"/>
                </a:lnTo>
                <a:cubicBezTo>
                  <a:pt x="260755" y="266700"/>
                  <a:pt x="266700" y="259269"/>
                  <a:pt x="266700" y="250031"/>
                </a:cubicBezTo>
                <a:cubicBezTo>
                  <a:pt x="266700" y="240794"/>
                  <a:pt x="260755" y="233363"/>
                  <a:pt x="253365" y="233363"/>
                </a:cubicBezTo>
                <a:lnTo>
                  <a:pt x="111181" y="233363"/>
                </a:lnTo>
                <a:cubicBezTo>
                  <a:pt x="104735" y="233363"/>
                  <a:pt x="99235" y="227598"/>
                  <a:pt x="98068" y="219680"/>
                </a:cubicBezTo>
                <a:lnTo>
                  <a:pt x="95234" y="200025"/>
                </a:lnTo>
                <a:lnTo>
                  <a:pt x="263922" y="200025"/>
                </a:lnTo>
                <a:cubicBezTo>
                  <a:pt x="281035" y="200025"/>
                  <a:pt x="295704" y="184815"/>
                  <a:pt x="298871" y="163770"/>
                </a:cubicBezTo>
                <a:lnTo>
                  <a:pt x="316095" y="48548"/>
                </a:lnTo>
                <a:cubicBezTo>
                  <a:pt x="318151" y="34865"/>
                  <a:pt x="309761" y="22225"/>
                  <a:pt x="298593" y="22225"/>
                </a:cubicBezTo>
                <a:lnTo>
                  <a:pt x="69286" y="22225"/>
                </a:lnTo>
                <a:lnTo>
                  <a:pt x="69064" y="20836"/>
                </a:lnTo>
                <a:cubicBezTo>
                  <a:pt x="66397" y="2361"/>
                  <a:pt x="53507" y="-11112"/>
                  <a:pt x="38449" y="-11112"/>
                </a:cubicBezTo>
                <a:lnTo>
                  <a:pt x="13335" y="-11112"/>
                </a:lnTo>
                <a:close/>
                <a:moveTo>
                  <a:pt x="115570" y="355600"/>
                </a:moveTo>
                <a:cubicBezTo>
                  <a:pt x="130290" y="355600"/>
                  <a:pt x="142240" y="340662"/>
                  <a:pt x="142240" y="322263"/>
                </a:cubicBezTo>
                <a:cubicBezTo>
                  <a:pt x="142240" y="303863"/>
                  <a:pt x="130290" y="288925"/>
                  <a:pt x="115570" y="288925"/>
                </a:cubicBezTo>
                <a:cubicBezTo>
                  <a:pt x="100850" y="288925"/>
                  <a:pt x="88900" y="303863"/>
                  <a:pt x="88900" y="322263"/>
                </a:cubicBezTo>
                <a:cubicBezTo>
                  <a:pt x="88900" y="340662"/>
                  <a:pt x="100850" y="355600"/>
                  <a:pt x="115570" y="355600"/>
                </a:cubicBezTo>
                <a:close/>
                <a:moveTo>
                  <a:pt x="240030" y="355600"/>
                </a:moveTo>
                <a:cubicBezTo>
                  <a:pt x="254750" y="355600"/>
                  <a:pt x="266700" y="340662"/>
                  <a:pt x="266700" y="322263"/>
                </a:cubicBezTo>
                <a:cubicBezTo>
                  <a:pt x="266700" y="303863"/>
                  <a:pt x="254750" y="288925"/>
                  <a:pt x="240030" y="288925"/>
                </a:cubicBezTo>
                <a:cubicBezTo>
                  <a:pt x="225310" y="288925"/>
                  <a:pt x="213360" y="303863"/>
                  <a:pt x="213360" y="322263"/>
                </a:cubicBezTo>
                <a:cubicBezTo>
                  <a:pt x="213360" y="340662"/>
                  <a:pt x="225310" y="355600"/>
                  <a:pt x="240030" y="35560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6515100" y="4000500"/>
            <a:ext cx="3683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SPENDING CATEGORIES</a:t>
            </a:r>
            <a:endParaRPr b="0" i="0" sz="1600" u="none" cap="none" strike="noStrike"/>
          </a:p>
        </p:txBody>
      </p:sp>
      <p:sp>
        <p:nvSpPr>
          <p:cNvPr id="260" name="Google Shape;260;p11"/>
          <p:cNvSpPr/>
          <p:nvPr/>
        </p:nvSpPr>
        <p:spPr>
          <a:xfrm>
            <a:off x="6032500" y="4445000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24.5%</a:t>
            </a:r>
            <a:endParaRPr b="0" i="0" sz="3600" u="none" cap="none" strike="noStrike"/>
          </a:p>
        </p:txBody>
      </p:sp>
      <p:sp>
        <p:nvSpPr>
          <p:cNvPr id="261" name="Google Shape;261;p11"/>
          <p:cNvSpPr/>
          <p:nvPr/>
        </p:nvSpPr>
        <p:spPr>
          <a:xfrm>
            <a:off x="6032500" y="5080000"/>
            <a:ext cx="419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Bills are the largest spending category, followed by Entertainment, Fuel, Grocery, and Food.</a:t>
            </a:r>
            <a:endParaRPr b="0" i="0" sz="1400" u="none" cap="none" strike="noStrike"/>
          </a:p>
        </p:txBody>
      </p:sp>
      <p:sp>
        <p:nvSpPr>
          <p:cNvPr id="262" name="Google Shape;262;p11"/>
          <p:cNvSpPr/>
          <p:nvPr/>
        </p:nvSpPr>
        <p:spPr>
          <a:xfrm>
            <a:off x="10795000" y="3810000"/>
            <a:ext cx="4699000" cy="222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11049000" y="4000500"/>
            <a:ext cx="355600" cy="355600"/>
          </a:xfrm>
          <a:custGeom>
            <a:rect b="b" l="l" r="r" t="t"/>
            <a:pathLst>
              <a:path extrusionOk="0" h="355600" w="355600">
                <a:moveTo>
                  <a:pt x="355600" y="33337"/>
                </a:moveTo>
                <a:cubicBezTo>
                  <a:pt x="355600" y="25628"/>
                  <a:pt x="351641" y="18475"/>
                  <a:pt x="345043" y="14446"/>
                </a:cubicBezTo>
                <a:cubicBezTo>
                  <a:pt x="338445" y="10418"/>
                  <a:pt x="330319" y="10001"/>
                  <a:pt x="323443" y="13474"/>
                </a:cubicBezTo>
                <a:lnTo>
                  <a:pt x="242739" y="53826"/>
                </a:lnTo>
                <a:lnTo>
                  <a:pt x="118140" y="12224"/>
                </a:lnTo>
                <a:cubicBezTo>
                  <a:pt x="112514" y="10349"/>
                  <a:pt x="106472" y="10765"/>
                  <a:pt x="101193" y="13404"/>
                </a:cubicBezTo>
                <a:lnTo>
                  <a:pt x="12293" y="57854"/>
                </a:lnTo>
                <a:cubicBezTo>
                  <a:pt x="4723" y="61674"/>
                  <a:pt x="0" y="69384"/>
                  <a:pt x="0" y="77788"/>
                </a:cubicBezTo>
                <a:lnTo>
                  <a:pt x="0" y="322263"/>
                </a:lnTo>
                <a:cubicBezTo>
                  <a:pt x="0" y="329972"/>
                  <a:pt x="3959" y="337125"/>
                  <a:pt x="10557" y="341154"/>
                </a:cubicBezTo>
                <a:cubicBezTo>
                  <a:pt x="17155" y="345182"/>
                  <a:pt x="25281" y="345599"/>
                  <a:pt x="32157" y="342126"/>
                </a:cubicBezTo>
                <a:lnTo>
                  <a:pt x="112792" y="301774"/>
                </a:lnTo>
                <a:lnTo>
                  <a:pt x="237391" y="343307"/>
                </a:lnTo>
                <a:cubicBezTo>
                  <a:pt x="243016" y="345182"/>
                  <a:pt x="249059" y="344765"/>
                  <a:pt x="254337" y="342126"/>
                </a:cubicBezTo>
                <a:lnTo>
                  <a:pt x="343237" y="297676"/>
                </a:lnTo>
                <a:cubicBezTo>
                  <a:pt x="350738" y="293926"/>
                  <a:pt x="355531" y="286216"/>
                  <a:pt x="355531" y="277812"/>
                </a:cubicBezTo>
                <a:lnTo>
                  <a:pt x="355531" y="33337"/>
                </a:lnTo>
                <a:close/>
                <a:moveTo>
                  <a:pt x="133350" y="261769"/>
                </a:moveTo>
                <a:lnTo>
                  <a:pt x="133350" y="64175"/>
                </a:lnTo>
                <a:lnTo>
                  <a:pt x="222250" y="93831"/>
                </a:lnTo>
                <a:lnTo>
                  <a:pt x="222250" y="291425"/>
                </a:lnTo>
                <a:lnTo>
                  <a:pt x="133350" y="261769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11531600" y="4000500"/>
            <a:ext cx="3683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GEOGRAPHIC</a:t>
            </a:r>
            <a:endParaRPr b="0" i="0" sz="1600" u="none" cap="none" strike="noStrike"/>
          </a:p>
        </p:txBody>
      </p:sp>
      <p:sp>
        <p:nvSpPr>
          <p:cNvPr id="265" name="Google Shape;265;p11"/>
          <p:cNvSpPr/>
          <p:nvPr/>
        </p:nvSpPr>
        <p:spPr>
          <a:xfrm>
            <a:off x="11049000" y="4445000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~$13M</a:t>
            </a:r>
            <a:endParaRPr b="0" i="0" sz="3600" u="none" cap="none" strike="noStrike"/>
          </a:p>
        </p:txBody>
      </p:sp>
      <p:sp>
        <p:nvSpPr>
          <p:cNvPr id="266" name="Google Shape;266;p11"/>
          <p:cNvSpPr/>
          <p:nvPr/>
        </p:nvSpPr>
        <p:spPr>
          <a:xfrm>
            <a:off x="11049000" y="5080000"/>
            <a:ext cx="419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Texas, New York, and California each generate ~$13M — the strongest-performing states.</a:t>
            </a:r>
            <a:endParaRPr b="0" i="0" sz="1400" u="none" cap="none" strike="noStrike"/>
          </a:p>
        </p:txBody>
      </p:sp>
      <p:sp>
        <p:nvSpPr>
          <p:cNvPr id="267" name="Google Shape;267;p11"/>
          <p:cNvSpPr/>
          <p:nvPr/>
        </p:nvSpPr>
        <p:spPr>
          <a:xfrm>
            <a:off x="762000" y="635000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QUARTERLY REVENUE PERFORMANCE</a:t>
            </a:r>
            <a:endParaRPr b="0" i="0" sz="1600" u="none" cap="none" strike="noStrike"/>
          </a:p>
        </p:txBody>
      </p:sp>
      <p:pic>
        <p:nvPicPr>
          <p:cNvPr id="268" name="Google Shape;2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794500"/>
            <a:ext cx="6985000" cy="165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1"/>
          <p:cNvSpPr/>
          <p:nvPr/>
        </p:nvSpPr>
        <p:spPr>
          <a:xfrm>
            <a:off x="8382000" y="6350000"/>
            <a:ext cx="7112000" cy="2095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8636000" y="6502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ADDITIONAL INSIGHTS</a:t>
            </a:r>
            <a:endParaRPr b="0" i="0" sz="1400" u="none" cap="none" strike="noStrike"/>
          </a:p>
        </p:txBody>
      </p:sp>
      <p:sp>
        <p:nvSpPr>
          <p:cNvPr id="271" name="Google Shape;271;p11"/>
          <p:cNvSpPr/>
          <p:nvPr/>
        </p:nvSpPr>
        <p:spPr>
          <a:xfrm>
            <a:off x="8636000" y="6858000"/>
            <a:ext cx="66040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Businessman customers generate highest revenue at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$18M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Female and Male revenue contributions are nearly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identical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Very High Income segment contributes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$21M (36.8%)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White-Collar professionals contribute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$10M</a:t>
            </a:r>
            <a:endParaRPr b="0" i="0" sz="1400" u="none" cap="none" strike="noStrike"/>
          </a:p>
        </p:txBody>
      </p:sp>
      <p:sp>
        <p:nvSpPr>
          <p:cNvPr id="272" name="Google Shape;272;p11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 b="0" i="0" sz="12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/>
          <p:nvPr/>
        </p:nvSpPr>
        <p:spPr>
          <a:xfrm>
            <a:off x="6858000" y="635000"/>
            <a:ext cx="2540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1778000" y="889000"/>
            <a:ext cx="1270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SKILLS DEMONSTRATED &amp; FUTURE ROADMAP</a:t>
            </a:r>
            <a:endParaRPr b="0" i="0" sz="2800" u="none" cap="none" strike="noStrike"/>
          </a:p>
        </p:txBody>
      </p:sp>
      <p:sp>
        <p:nvSpPr>
          <p:cNvPr id="280" name="Google Shape;280;p12"/>
          <p:cNvSpPr/>
          <p:nvPr/>
        </p:nvSpPr>
        <p:spPr>
          <a:xfrm>
            <a:off x="6223000" y="1587500"/>
            <a:ext cx="3810000" cy="12700"/>
          </a:xfrm>
          <a:prstGeom prst="rect">
            <a:avLst/>
          </a:prstGeom>
          <a:solidFill>
            <a:srgbClr val="FFFFFF">
              <a:alpha val="1882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762000" y="18415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TECHNICAL SKILLS</a:t>
            </a:r>
            <a:endParaRPr b="0" i="0" sz="1400" u="none" cap="none" strike="noStrike"/>
          </a:p>
        </p:txBody>
      </p:sp>
      <p:sp>
        <p:nvSpPr>
          <p:cNvPr id="282" name="Google Shape;282;p12"/>
          <p:cNvSpPr/>
          <p:nvPr/>
        </p:nvSpPr>
        <p:spPr>
          <a:xfrm>
            <a:off x="1016000" y="2349500"/>
            <a:ext cx="304800" cy="304800"/>
          </a:xfrm>
          <a:custGeom>
            <a:rect b="b" l="l" r="r" t="t"/>
            <a:pathLst>
              <a:path extrusionOk="0" h="304800" w="304800">
                <a:moveTo>
                  <a:pt x="271145" y="142875"/>
                </a:moveTo>
                <a:lnTo>
                  <a:pt x="178012" y="142875"/>
                </a:lnTo>
                <a:cubicBezTo>
                  <a:pt x="168645" y="142875"/>
                  <a:pt x="161078" y="134362"/>
                  <a:pt x="161078" y="123825"/>
                </a:cubicBezTo>
                <a:lnTo>
                  <a:pt x="161078" y="19050"/>
                </a:lnTo>
                <a:cubicBezTo>
                  <a:pt x="161078" y="8513"/>
                  <a:pt x="168698" y="-119"/>
                  <a:pt x="177959" y="1250"/>
                </a:cubicBezTo>
                <a:cubicBezTo>
                  <a:pt x="234580" y="9704"/>
                  <a:pt x="279453" y="60186"/>
                  <a:pt x="286967" y="123885"/>
                </a:cubicBezTo>
                <a:cubicBezTo>
                  <a:pt x="288184" y="134303"/>
                  <a:pt x="280511" y="142875"/>
                  <a:pt x="271145" y="142875"/>
                </a:cubicBezTo>
                <a:close/>
                <a:moveTo>
                  <a:pt x="117792" y="22146"/>
                </a:moveTo>
                <a:cubicBezTo>
                  <a:pt x="127370" y="19883"/>
                  <a:pt x="135678" y="28694"/>
                  <a:pt x="135678" y="39707"/>
                </a:cubicBezTo>
                <a:lnTo>
                  <a:pt x="135678" y="157163"/>
                </a:lnTo>
                <a:cubicBezTo>
                  <a:pt x="135678" y="160496"/>
                  <a:pt x="136737" y="163711"/>
                  <a:pt x="138589" y="166271"/>
                </a:cubicBezTo>
                <a:lnTo>
                  <a:pt x="208492" y="261164"/>
                </a:lnTo>
                <a:cubicBezTo>
                  <a:pt x="214683" y="269558"/>
                  <a:pt x="213360" y="282238"/>
                  <a:pt x="204840" y="287417"/>
                </a:cubicBezTo>
                <a:cubicBezTo>
                  <a:pt x="186796" y="298490"/>
                  <a:pt x="166105" y="304800"/>
                  <a:pt x="144145" y="304800"/>
                </a:cubicBezTo>
                <a:cubicBezTo>
                  <a:pt x="74030" y="304800"/>
                  <a:pt x="17145" y="240804"/>
                  <a:pt x="17145" y="161925"/>
                </a:cubicBezTo>
                <a:cubicBezTo>
                  <a:pt x="17145" y="93166"/>
                  <a:pt x="60272" y="35778"/>
                  <a:pt x="117792" y="22146"/>
                </a:cubicBezTo>
                <a:close/>
                <a:moveTo>
                  <a:pt x="252836" y="171450"/>
                </a:moveTo>
                <a:lnTo>
                  <a:pt x="286702" y="171450"/>
                </a:lnTo>
                <a:cubicBezTo>
                  <a:pt x="296492" y="171450"/>
                  <a:pt x="304324" y="180796"/>
                  <a:pt x="302313" y="191572"/>
                </a:cubicBezTo>
                <a:cubicBezTo>
                  <a:pt x="296915" y="220385"/>
                  <a:pt x="283792" y="245983"/>
                  <a:pt x="265483" y="265509"/>
                </a:cubicBezTo>
                <a:cubicBezTo>
                  <a:pt x="258974" y="272475"/>
                  <a:pt x="248761" y="270986"/>
                  <a:pt x="243046" y="263188"/>
                </a:cubicBezTo>
                <a:lnTo>
                  <a:pt x="198385" y="202644"/>
                </a:lnTo>
                <a:cubicBezTo>
                  <a:pt x="189230" y="190202"/>
                  <a:pt x="197115" y="171450"/>
                  <a:pt x="211402" y="171450"/>
                </a:cubicBezTo>
                <a:lnTo>
                  <a:pt x="252783" y="1714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1460500" y="23495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 BI</a:t>
            </a:r>
            <a:endParaRPr b="0" i="0" sz="1500" u="none" cap="none" strike="noStrike"/>
          </a:p>
        </p:txBody>
      </p:sp>
      <p:sp>
        <p:nvSpPr>
          <p:cNvPr id="284" name="Google Shape;284;p12"/>
          <p:cNvSpPr/>
          <p:nvPr/>
        </p:nvSpPr>
        <p:spPr>
          <a:xfrm>
            <a:off x="3810000" y="2349500"/>
            <a:ext cx="304800" cy="304800"/>
          </a:xfrm>
          <a:custGeom>
            <a:rect b="b" l="l" r="r" t="t"/>
            <a:pathLst>
              <a:path extrusionOk="0" h="304800" w="304800">
                <a:moveTo>
                  <a:pt x="304800" y="122515"/>
                </a:moveTo>
                <a:cubicBezTo>
                  <a:pt x="294731" y="128349"/>
                  <a:pt x="283165" y="133052"/>
                  <a:pt x="271122" y="136803"/>
                </a:cubicBezTo>
                <a:cubicBezTo>
                  <a:pt x="239146" y="146804"/>
                  <a:pt x="197168" y="152400"/>
                  <a:pt x="152400" y="152400"/>
                </a:cubicBezTo>
                <a:cubicBezTo>
                  <a:pt x="107632" y="152400"/>
                  <a:pt x="65586" y="146745"/>
                  <a:pt x="33678" y="136803"/>
                </a:cubicBezTo>
                <a:cubicBezTo>
                  <a:pt x="21703" y="133052"/>
                  <a:pt x="10069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68240" y="219075"/>
                  <a:pt x="152400" y="219075"/>
                </a:cubicBezTo>
                <a:cubicBezTo>
                  <a:pt x="236560" y="219075"/>
                  <a:pt x="304800" y="197763"/>
                  <a:pt x="304800" y="171450"/>
                </a:cubicBezTo>
                <a:lnTo>
                  <a:pt x="304800" y="122515"/>
                </a:lnTo>
                <a:close/>
                <a:moveTo>
                  <a:pt x="304800" y="76200"/>
                </a:moveTo>
                <a:lnTo>
                  <a:pt x="304800" y="47625"/>
                </a:lnTo>
                <a:cubicBezTo>
                  <a:pt x="304800" y="21312"/>
                  <a:pt x="236560" y="0"/>
                  <a:pt x="152400" y="0"/>
                </a:cubicBezTo>
                <a:cubicBezTo>
                  <a:pt x="6824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68240" y="123825"/>
                  <a:pt x="152400" y="123825"/>
                </a:cubicBezTo>
                <a:cubicBezTo>
                  <a:pt x="236560" y="123825"/>
                  <a:pt x="304800" y="102513"/>
                  <a:pt x="304800" y="76200"/>
                </a:cubicBezTo>
                <a:close/>
                <a:moveTo>
                  <a:pt x="271122" y="232053"/>
                </a:moveTo>
                <a:cubicBezTo>
                  <a:pt x="239214" y="241995"/>
                  <a:pt x="197236" y="247650"/>
                  <a:pt x="152400" y="247650"/>
                </a:cubicBezTo>
                <a:cubicBezTo>
                  <a:pt x="107564" y="247650"/>
                  <a:pt x="65586" y="241995"/>
                  <a:pt x="33678" y="232053"/>
                </a:cubicBezTo>
                <a:cubicBezTo>
                  <a:pt x="21703" y="228302"/>
                  <a:pt x="10069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68240" y="304800"/>
                  <a:pt x="152400" y="304800"/>
                </a:cubicBezTo>
                <a:cubicBezTo>
                  <a:pt x="236560" y="304800"/>
                  <a:pt x="304800" y="283488"/>
                  <a:pt x="304800" y="257175"/>
                </a:cubicBezTo>
                <a:lnTo>
                  <a:pt x="304800" y="217765"/>
                </a:lnTo>
                <a:cubicBezTo>
                  <a:pt x="294731" y="223599"/>
                  <a:pt x="283165" y="228302"/>
                  <a:pt x="271122" y="232053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4254500" y="23495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PostgreSQL</a:t>
            </a:r>
            <a:endParaRPr b="0" i="0" sz="1500" u="none" cap="none" strike="noStrike"/>
          </a:p>
        </p:txBody>
      </p:sp>
      <p:sp>
        <p:nvSpPr>
          <p:cNvPr id="286" name="Google Shape;286;p12"/>
          <p:cNvSpPr/>
          <p:nvPr/>
        </p:nvSpPr>
        <p:spPr>
          <a:xfrm>
            <a:off x="6604000" y="2349500"/>
            <a:ext cx="304800" cy="304800"/>
          </a:xfrm>
          <a:custGeom>
            <a:rect b="b" l="l" r="r" t="t"/>
            <a:pathLst>
              <a:path extrusionOk="0" h="304800" w="304800">
                <a:moveTo>
                  <a:pt x="190923" y="714"/>
                </a:moveTo>
                <a:cubicBezTo>
                  <a:pt x="181928" y="-2203"/>
                  <a:pt x="172561" y="3691"/>
                  <a:pt x="169968" y="13811"/>
                </a:cubicBezTo>
                <a:lnTo>
                  <a:pt x="102235" y="280511"/>
                </a:lnTo>
                <a:cubicBezTo>
                  <a:pt x="99642" y="290632"/>
                  <a:pt x="104881" y="301169"/>
                  <a:pt x="113877" y="304086"/>
                </a:cubicBezTo>
                <a:cubicBezTo>
                  <a:pt x="122872" y="307003"/>
                  <a:pt x="132239" y="301109"/>
                  <a:pt x="134832" y="290989"/>
                </a:cubicBezTo>
                <a:lnTo>
                  <a:pt x="202565" y="24289"/>
                </a:lnTo>
                <a:cubicBezTo>
                  <a:pt x="205158" y="14168"/>
                  <a:pt x="199919" y="3631"/>
                  <a:pt x="190923" y="714"/>
                </a:cubicBezTo>
                <a:close/>
                <a:moveTo>
                  <a:pt x="225108" y="81736"/>
                </a:moveTo>
                <a:cubicBezTo>
                  <a:pt x="218493" y="89178"/>
                  <a:pt x="218493" y="101263"/>
                  <a:pt x="225108" y="108704"/>
                </a:cubicBezTo>
                <a:lnTo>
                  <a:pt x="263948" y="152400"/>
                </a:lnTo>
                <a:lnTo>
                  <a:pt x="225108" y="196096"/>
                </a:lnTo>
                <a:cubicBezTo>
                  <a:pt x="218493" y="203537"/>
                  <a:pt x="218493" y="215622"/>
                  <a:pt x="225108" y="223064"/>
                </a:cubicBezTo>
                <a:cubicBezTo>
                  <a:pt x="231722" y="230505"/>
                  <a:pt x="242464" y="230505"/>
                  <a:pt x="249079" y="223064"/>
                </a:cubicBezTo>
                <a:lnTo>
                  <a:pt x="299879" y="165914"/>
                </a:lnTo>
                <a:cubicBezTo>
                  <a:pt x="306493" y="158472"/>
                  <a:pt x="306493" y="146387"/>
                  <a:pt x="299879" y="138946"/>
                </a:cubicBezTo>
                <a:lnTo>
                  <a:pt x="249079" y="81796"/>
                </a:lnTo>
                <a:cubicBezTo>
                  <a:pt x="242464" y="74355"/>
                  <a:pt x="231722" y="74355"/>
                  <a:pt x="225108" y="81796"/>
                </a:cubicBezTo>
                <a:close/>
                <a:moveTo>
                  <a:pt x="79745" y="81736"/>
                </a:moveTo>
                <a:cubicBezTo>
                  <a:pt x="73131" y="74295"/>
                  <a:pt x="62389" y="74295"/>
                  <a:pt x="55774" y="81736"/>
                </a:cubicBezTo>
                <a:lnTo>
                  <a:pt x="4974" y="138886"/>
                </a:lnTo>
                <a:cubicBezTo>
                  <a:pt x="-1640" y="146328"/>
                  <a:pt x="-1640" y="158413"/>
                  <a:pt x="4974" y="165854"/>
                </a:cubicBezTo>
                <a:lnTo>
                  <a:pt x="55774" y="223004"/>
                </a:lnTo>
                <a:cubicBezTo>
                  <a:pt x="62389" y="230445"/>
                  <a:pt x="73131" y="230445"/>
                  <a:pt x="79745" y="223004"/>
                </a:cubicBezTo>
                <a:cubicBezTo>
                  <a:pt x="86360" y="215563"/>
                  <a:pt x="86360" y="203478"/>
                  <a:pt x="79745" y="196036"/>
                </a:cubicBezTo>
                <a:lnTo>
                  <a:pt x="40905" y="152400"/>
                </a:lnTo>
                <a:lnTo>
                  <a:pt x="79693" y="108704"/>
                </a:lnTo>
                <a:cubicBezTo>
                  <a:pt x="86307" y="101263"/>
                  <a:pt x="86307" y="89178"/>
                  <a:pt x="79693" y="81736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7048500" y="23495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SQL &amp; DAX</a:t>
            </a:r>
            <a:endParaRPr b="0" i="0" sz="1500" u="none" cap="none" strike="noStrike"/>
          </a:p>
        </p:txBody>
      </p:sp>
      <p:sp>
        <p:nvSpPr>
          <p:cNvPr id="288" name="Google Shape;288;p12"/>
          <p:cNvSpPr/>
          <p:nvPr/>
        </p:nvSpPr>
        <p:spPr>
          <a:xfrm>
            <a:off x="9398000" y="2349500"/>
            <a:ext cx="304800" cy="304800"/>
          </a:xfrm>
          <a:custGeom>
            <a:rect b="b" l="l" r="r" t="t"/>
            <a:pathLst>
              <a:path extrusionOk="0" h="304800" w="304800">
                <a:moveTo>
                  <a:pt x="39231" y="136029"/>
                </a:moveTo>
                <a:cubicBezTo>
                  <a:pt x="47149" y="80665"/>
                  <a:pt x="94833" y="38100"/>
                  <a:pt x="152400" y="38100"/>
                </a:cubicBezTo>
                <a:cubicBezTo>
                  <a:pt x="183952" y="38100"/>
                  <a:pt x="212527" y="50899"/>
                  <a:pt x="233243" y="71557"/>
                </a:cubicBezTo>
                <a:cubicBezTo>
                  <a:pt x="233363" y="71676"/>
                  <a:pt x="233482" y="71795"/>
                  <a:pt x="233601" y="71914"/>
                </a:cubicBezTo>
                <a:lnTo>
                  <a:pt x="238125" y="76200"/>
                </a:lnTo>
                <a:lnTo>
                  <a:pt x="209610" y="76200"/>
                </a:lnTo>
                <a:cubicBezTo>
                  <a:pt x="199073" y="76200"/>
                  <a:pt x="190560" y="84713"/>
                  <a:pt x="190560" y="95250"/>
                </a:cubicBezTo>
                <a:cubicBezTo>
                  <a:pt x="190560" y="105787"/>
                  <a:pt x="199073" y="114300"/>
                  <a:pt x="209610" y="114300"/>
                </a:cubicBezTo>
                <a:lnTo>
                  <a:pt x="285810" y="114300"/>
                </a:lnTo>
                <a:cubicBezTo>
                  <a:pt x="296347" y="114300"/>
                  <a:pt x="304860" y="105787"/>
                  <a:pt x="304860" y="95250"/>
                </a:cubicBezTo>
                <a:lnTo>
                  <a:pt x="304860" y="19050"/>
                </a:lnTo>
                <a:cubicBezTo>
                  <a:pt x="304860" y="8513"/>
                  <a:pt x="296347" y="0"/>
                  <a:pt x="285810" y="0"/>
                </a:cubicBezTo>
                <a:cubicBezTo>
                  <a:pt x="275273" y="0"/>
                  <a:pt x="266760" y="8513"/>
                  <a:pt x="266760" y="19050"/>
                </a:cubicBezTo>
                <a:lnTo>
                  <a:pt x="266760" y="50840"/>
                </a:lnTo>
                <a:lnTo>
                  <a:pt x="260033" y="44470"/>
                </a:lnTo>
                <a:cubicBezTo>
                  <a:pt x="232470" y="17026"/>
                  <a:pt x="194370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lose/>
                <a:moveTo>
                  <a:pt x="303252" y="174129"/>
                </a:moveTo>
                <a:cubicBezTo>
                  <a:pt x="304740" y="163711"/>
                  <a:pt x="297478" y="154067"/>
                  <a:pt x="287119" y="152579"/>
                </a:cubicBezTo>
                <a:cubicBezTo>
                  <a:pt x="276761" y="151090"/>
                  <a:pt x="267057" y="158353"/>
                  <a:pt x="265569" y="168712"/>
                </a:cubicBezTo>
                <a:cubicBezTo>
                  <a:pt x="257651" y="224076"/>
                  <a:pt x="209967" y="266640"/>
                  <a:pt x="152400" y="266640"/>
                </a:cubicBezTo>
                <a:cubicBezTo>
                  <a:pt x="120848" y="266640"/>
                  <a:pt x="92273" y="253841"/>
                  <a:pt x="71557" y="233184"/>
                </a:cubicBezTo>
                <a:cubicBezTo>
                  <a:pt x="71437" y="233065"/>
                  <a:pt x="71318" y="232946"/>
                  <a:pt x="71199" y="232827"/>
                </a:cubicBezTo>
                <a:lnTo>
                  <a:pt x="66675" y="228540"/>
                </a:lnTo>
                <a:lnTo>
                  <a:pt x="95190" y="228540"/>
                </a:lnTo>
                <a:cubicBezTo>
                  <a:pt x="105727" y="228540"/>
                  <a:pt x="114240" y="220028"/>
                  <a:pt x="114240" y="209490"/>
                </a:cubicBezTo>
                <a:cubicBezTo>
                  <a:pt x="114240" y="198953"/>
                  <a:pt x="105727" y="190440"/>
                  <a:pt x="95190" y="190440"/>
                </a:cubicBezTo>
                <a:lnTo>
                  <a:pt x="19050" y="190500"/>
                </a:lnTo>
                <a:cubicBezTo>
                  <a:pt x="13990" y="190500"/>
                  <a:pt x="9108" y="192524"/>
                  <a:pt x="5536" y="196155"/>
                </a:cubicBezTo>
                <a:cubicBezTo>
                  <a:pt x="1965" y="199787"/>
                  <a:pt x="-60" y="204609"/>
                  <a:pt x="0" y="209729"/>
                </a:cubicBezTo>
                <a:lnTo>
                  <a:pt x="595" y="285333"/>
                </a:lnTo>
                <a:cubicBezTo>
                  <a:pt x="655" y="295870"/>
                  <a:pt x="9287" y="304324"/>
                  <a:pt x="19824" y="304205"/>
                </a:cubicBezTo>
                <a:cubicBezTo>
                  <a:pt x="30361" y="304086"/>
                  <a:pt x="38814" y="295513"/>
                  <a:pt x="38695" y="284976"/>
                </a:cubicBezTo>
                <a:lnTo>
                  <a:pt x="38457" y="254318"/>
                </a:lnTo>
                <a:lnTo>
                  <a:pt x="44827" y="260330"/>
                </a:lnTo>
                <a:cubicBezTo>
                  <a:pt x="72390" y="287774"/>
                  <a:pt x="110430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9842500" y="23495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ETL Pipeline</a:t>
            </a:r>
            <a:endParaRPr b="0" i="0" sz="1500" u="none" cap="none" strike="noStrike"/>
          </a:p>
        </p:txBody>
      </p:sp>
      <p:sp>
        <p:nvSpPr>
          <p:cNvPr id="290" name="Google Shape;290;p12"/>
          <p:cNvSpPr/>
          <p:nvPr/>
        </p:nvSpPr>
        <p:spPr>
          <a:xfrm>
            <a:off x="12192000" y="2349500"/>
            <a:ext cx="304800" cy="304800"/>
          </a:xfrm>
          <a:custGeom>
            <a:rect b="b" l="l" r="r" t="t"/>
            <a:pathLst>
              <a:path extrusionOk="0" h="304800" w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12636500" y="23495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Modeling</a:t>
            </a:r>
            <a:endParaRPr b="0" i="0" sz="1500" u="none" cap="none" strike="noStrike"/>
          </a:p>
        </p:txBody>
      </p:sp>
      <p:sp>
        <p:nvSpPr>
          <p:cNvPr id="292" name="Google Shape;292;p12"/>
          <p:cNvSpPr/>
          <p:nvPr/>
        </p:nvSpPr>
        <p:spPr>
          <a:xfrm>
            <a:off x="1016000" y="2857500"/>
            <a:ext cx="304800" cy="304800"/>
          </a:xfrm>
          <a:custGeom>
            <a:rect b="b" l="l" r="r" t="t"/>
            <a:pathLst>
              <a:path extrusionOk="0" h="304800" w="304800">
                <a:moveTo>
                  <a:pt x="50800" y="0"/>
                </a:moveTo>
                <a:cubicBezTo>
                  <a:pt x="22781" y="0"/>
                  <a:pt x="0" y="17085"/>
                  <a:pt x="0" y="38100"/>
                </a:cubicBezTo>
                <a:lnTo>
                  <a:pt x="0" y="266700"/>
                </a:lnTo>
                <a:cubicBezTo>
                  <a:pt x="0" y="287715"/>
                  <a:pt x="22781" y="304800"/>
                  <a:pt x="50800" y="304800"/>
                </a:cubicBezTo>
                <a:lnTo>
                  <a:pt x="254000" y="304800"/>
                </a:lnTo>
                <a:cubicBezTo>
                  <a:pt x="282019" y="304800"/>
                  <a:pt x="304800" y="287715"/>
                  <a:pt x="304800" y="266700"/>
                </a:cubicBezTo>
                <a:lnTo>
                  <a:pt x="304800" y="38100"/>
                </a:lnTo>
                <a:cubicBezTo>
                  <a:pt x="304800" y="17085"/>
                  <a:pt x="282019" y="0"/>
                  <a:pt x="254000" y="0"/>
                </a:cubicBezTo>
                <a:lnTo>
                  <a:pt x="50800" y="0"/>
                </a:lnTo>
                <a:close/>
                <a:moveTo>
                  <a:pt x="76200" y="38100"/>
                </a:moveTo>
                <a:lnTo>
                  <a:pt x="228600" y="38100"/>
                </a:lnTo>
                <a:cubicBezTo>
                  <a:pt x="242649" y="38100"/>
                  <a:pt x="254000" y="46613"/>
                  <a:pt x="254000" y="57150"/>
                </a:cubicBezTo>
                <a:lnTo>
                  <a:pt x="254000" y="76200"/>
                </a:lnTo>
                <a:cubicBezTo>
                  <a:pt x="254000" y="86737"/>
                  <a:pt x="242649" y="95250"/>
                  <a:pt x="228600" y="95250"/>
                </a:cubicBezTo>
                <a:lnTo>
                  <a:pt x="76200" y="95250"/>
                </a:lnTo>
                <a:cubicBezTo>
                  <a:pt x="62151" y="95250"/>
                  <a:pt x="50800" y="86737"/>
                  <a:pt x="50800" y="76200"/>
                </a:cubicBezTo>
                <a:lnTo>
                  <a:pt x="50800" y="57150"/>
                </a:lnTo>
                <a:cubicBezTo>
                  <a:pt x="50800" y="46613"/>
                  <a:pt x="62151" y="38100"/>
                  <a:pt x="76200" y="38100"/>
                </a:cubicBezTo>
                <a:close/>
                <a:moveTo>
                  <a:pt x="88900" y="138113"/>
                </a:moveTo>
                <a:cubicBezTo>
                  <a:pt x="88900" y="145998"/>
                  <a:pt x="80364" y="152400"/>
                  <a:pt x="69850" y="152400"/>
                </a:cubicBezTo>
                <a:cubicBezTo>
                  <a:pt x="59336" y="152400"/>
                  <a:pt x="50800" y="145998"/>
                  <a:pt x="50800" y="138113"/>
                </a:cubicBezTo>
                <a:cubicBezTo>
                  <a:pt x="50800" y="130227"/>
                  <a:pt x="59336" y="123825"/>
                  <a:pt x="69850" y="123825"/>
                </a:cubicBezTo>
                <a:cubicBezTo>
                  <a:pt x="80364" y="123825"/>
                  <a:pt x="88900" y="130227"/>
                  <a:pt x="88900" y="138113"/>
                </a:cubicBezTo>
                <a:close/>
                <a:moveTo>
                  <a:pt x="152400" y="152400"/>
                </a:moveTo>
                <a:cubicBezTo>
                  <a:pt x="141886" y="152400"/>
                  <a:pt x="133350" y="145998"/>
                  <a:pt x="133350" y="138113"/>
                </a:cubicBezTo>
                <a:cubicBezTo>
                  <a:pt x="133350" y="130227"/>
                  <a:pt x="141886" y="123825"/>
                  <a:pt x="152400" y="123825"/>
                </a:cubicBezTo>
                <a:cubicBezTo>
                  <a:pt x="162914" y="123825"/>
                  <a:pt x="171450" y="130227"/>
                  <a:pt x="171450" y="138113"/>
                </a:cubicBezTo>
                <a:cubicBezTo>
                  <a:pt x="171450" y="145998"/>
                  <a:pt x="162914" y="152400"/>
                  <a:pt x="152400" y="152400"/>
                </a:cubicBezTo>
                <a:close/>
                <a:moveTo>
                  <a:pt x="254000" y="138113"/>
                </a:moveTo>
                <a:cubicBezTo>
                  <a:pt x="254000" y="145998"/>
                  <a:pt x="245464" y="152400"/>
                  <a:pt x="234950" y="152400"/>
                </a:cubicBezTo>
                <a:cubicBezTo>
                  <a:pt x="224436" y="152400"/>
                  <a:pt x="215900" y="145998"/>
                  <a:pt x="215900" y="138113"/>
                </a:cubicBezTo>
                <a:cubicBezTo>
                  <a:pt x="215900" y="130227"/>
                  <a:pt x="224436" y="123825"/>
                  <a:pt x="234950" y="123825"/>
                </a:cubicBezTo>
                <a:cubicBezTo>
                  <a:pt x="245464" y="123825"/>
                  <a:pt x="254000" y="130227"/>
                  <a:pt x="254000" y="138113"/>
                </a:cubicBezTo>
                <a:close/>
                <a:moveTo>
                  <a:pt x="69850" y="209550"/>
                </a:moveTo>
                <a:cubicBezTo>
                  <a:pt x="59336" y="209550"/>
                  <a:pt x="50800" y="203148"/>
                  <a:pt x="50800" y="195263"/>
                </a:cubicBezTo>
                <a:cubicBezTo>
                  <a:pt x="50800" y="187377"/>
                  <a:pt x="59336" y="180975"/>
                  <a:pt x="69850" y="180975"/>
                </a:cubicBezTo>
                <a:cubicBezTo>
                  <a:pt x="80364" y="180975"/>
                  <a:pt x="88900" y="187377"/>
                  <a:pt x="88900" y="195263"/>
                </a:cubicBezTo>
                <a:cubicBezTo>
                  <a:pt x="88900" y="203148"/>
                  <a:pt x="80364" y="209550"/>
                  <a:pt x="69850" y="209550"/>
                </a:cubicBezTo>
                <a:close/>
                <a:moveTo>
                  <a:pt x="171450" y="195263"/>
                </a:moveTo>
                <a:cubicBezTo>
                  <a:pt x="171450" y="203148"/>
                  <a:pt x="162914" y="209550"/>
                  <a:pt x="152400" y="209550"/>
                </a:cubicBezTo>
                <a:cubicBezTo>
                  <a:pt x="141886" y="209550"/>
                  <a:pt x="133350" y="203148"/>
                  <a:pt x="133350" y="195263"/>
                </a:cubicBezTo>
                <a:cubicBezTo>
                  <a:pt x="133350" y="187377"/>
                  <a:pt x="141886" y="180975"/>
                  <a:pt x="152400" y="180975"/>
                </a:cubicBezTo>
                <a:cubicBezTo>
                  <a:pt x="162914" y="180975"/>
                  <a:pt x="171450" y="187377"/>
                  <a:pt x="171450" y="195263"/>
                </a:cubicBezTo>
                <a:close/>
                <a:moveTo>
                  <a:pt x="234950" y="209550"/>
                </a:moveTo>
                <a:cubicBezTo>
                  <a:pt x="224436" y="209550"/>
                  <a:pt x="215900" y="203148"/>
                  <a:pt x="215900" y="195263"/>
                </a:cubicBezTo>
                <a:cubicBezTo>
                  <a:pt x="215900" y="187377"/>
                  <a:pt x="224436" y="180975"/>
                  <a:pt x="234950" y="180975"/>
                </a:cubicBezTo>
                <a:cubicBezTo>
                  <a:pt x="245464" y="180975"/>
                  <a:pt x="254000" y="187377"/>
                  <a:pt x="254000" y="195263"/>
                </a:cubicBezTo>
                <a:cubicBezTo>
                  <a:pt x="254000" y="203148"/>
                  <a:pt x="245464" y="209550"/>
                  <a:pt x="234950" y="209550"/>
                </a:cubicBezTo>
                <a:close/>
                <a:moveTo>
                  <a:pt x="50800" y="252413"/>
                </a:moveTo>
                <a:cubicBezTo>
                  <a:pt x="50800" y="244495"/>
                  <a:pt x="59293" y="238125"/>
                  <a:pt x="69850" y="238125"/>
                </a:cubicBezTo>
                <a:lnTo>
                  <a:pt x="158750" y="238125"/>
                </a:lnTo>
                <a:cubicBezTo>
                  <a:pt x="169307" y="238125"/>
                  <a:pt x="177800" y="244495"/>
                  <a:pt x="177800" y="252413"/>
                </a:cubicBezTo>
                <a:cubicBezTo>
                  <a:pt x="177800" y="260330"/>
                  <a:pt x="169307" y="266700"/>
                  <a:pt x="158750" y="266700"/>
                </a:cubicBezTo>
                <a:lnTo>
                  <a:pt x="69850" y="266700"/>
                </a:lnTo>
                <a:cubicBezTo>
                  <a:pt x="59293" y="266700"/>
                  <a:pt x="50800" y="260330"/>
                  <a:pt x="50800" y="252413"/>
                </a:cubicBezTo>
                <a:close/>
                <a:moveTo>
                  <a:pt x="234950" y="238125"/>
                </a:moveTo>
                <a:cubicBezTo>
                  <a:pt x="245507" y="238125"/>
                  <a:pt x="254000" y="244495"/>
                  <a:pt x="254000" y="252413"/>
                </a:cubicBezTo>
                <a:cubicBezTo>
                  <a:pt x="254000" y="260330"/>
                  <a:pt x="245507" y="266700"/>
                  <a:pt x="234950" y="266700"/>
                </a:cubicBezTo>
                <a:cubicBezTo>
                  <a:pt x="224393" y="266700"/>
                  <a:pt x="215900" y="260330"/>
                  <a:pt x="215900" y="252413"/>
                </a:cubicBezTo>
                <a:cubicBezTo>
                  <a:pt x="215900" y="244495"/>
                  <a:pt x="224393" y="238125"/>
                  <a:pt x="234950" y="238125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1460500" y="28575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KPI Development</a:t>
            </a:r>
            <a:endParaRPr b="0" i="0" sz="1500" u="none" cap="none" strike="noStrike"/>
          </a:p>
        </p:txBody>
      </p:sp>
      <p:sp>
        <p:nvSpPr>
          <p:cNvPr id="294" name="Google Shape;294;p12"/>
          <p:cNvSpPr/>
          <p:nvPr/>
        </p:nvSpPr>
        <p:spPr>
          <a:xfrm>
            <a:off x="3810000" y="2857500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19050"/>
                </a:moveTo>
                <a:cubicBezTo>
                  <a:pt x="109643" y="19050"/>
                  <a:pt x="75406" y="40957"/>
                  <a:pt x="50483" y="67032"/>
                </a:cubicBezTo>
                <a:cubicBezTo>
                  <a:pt x="25718" y="92928"/>
                  <a:pt x="9155" y="123825"/>
                  <a:pt x="1270" y="145078"/>
                </a:cubicBezTo>
                <a:cubicBezTo>
                  <a:pt x="-476" y="149781"/>
                  <a:pt x="-476" y="155019"/>
                  <a:pt x="1270" y="159722"/>
                </a:cubicBezTo>
                <a:cubicBezTo>
                  <a:pt x="9155" y="180975"/>
                  <a:pt x="25718" y="211931"/>
                  <a:pt x="50483" y="237768"/>
                </a:cubicBezTo>
                <a:cubicBezTo>
                  <a:pt x="75406" y="263783"/>
                  <a:pt x="109643" y="285750"/>
                  <a:pt x="152400" y="285750"/>
                </a:cubicBezTo>
                <a:cubicBezTo>
                  <a:pt x="195157" y="285750"/>
                  <a:pt x="229394" y="263843"/>
                  <a:pt x="254318" y="237768"/>
                </a:cubicBezTo>
                <a:cubicBezTo>
                  <a:pt x="279083" y="211872"/>
                  <a:pt x="295645" y="180975"/>
                  <a:pt x="303530" y="159722"/>
                </a:cubicBezTo>
                <a:cubicBezTo>
                  <a:pt x="305276" y="155019"/>
                  <a:pt x="305276" y="149781"/>
                  <a:pt x="303530" y="145078"/>
                </a:cubicBezTo>
                <a:cubicBezTo>
                  <a:pt x="295645" y="123825"/>
                  <a:pt x="279083" y="92869"/>
                  <a:pt x="254318" y="67032"/>
                </a:cubicBezTo>
                <a:cubicBezTo>
                  <a:pt x="229394" y="41017"/>
                  <a:pt x="195157" y="19050"/>
                  <a:pt x="152400" y="19050"/>
                </a:cubicBezTo>
                <a:close/>
                <a:moveTo>
                  <a:pt x="76200" y="152400"/>
                </a:moveTo>
                <a:cubicBezTo>
                  <a:pt x="76200" y="105087"/>
                  <a:pt x="110344" y="66675"/>
                  <a:pt x="152400" y="66675"/>
                </a:cubicBezTo>
                <a:cubicBezTo>
                  <a:pt x="194456" y="66675"/>
                  <a:pt x="228600" y="105087"/>
                  <a:pt x="228600" y="152400"/>
                </a:cubicBezTo>
                <a:cubicBezTo>
                  <a:pt x="228600" y="199713"/>
                  <a:pt x="194456" y="238125"/>
                  <a:pt x="152400" y="238125"/>
                </a:cubicBezTo>
                <a:cubicBezTo>
                  <a:pt x="110344" y="238125"/>
                  <a:pt x="76200" y="199713"/>
                  <a:pt x="76200" y="152400"/>
                </a:cubicBezTo>
                <a:close/>
                <a:moveTo>
                  <a:pt x="152400" y="114300"/>
                </a:moveTo>
                <a:cubicBezTo>
                  <a:pt x="152400" y="135315"/>
                  <a:pt x="137213" y="152400"/>
                  <a:pt x="118533" y="152400"/>
                </a:cubicBezTo>
                <a:cubicBezTo>
                  <a:pt x="112448" y="152400"/>
                  <a:pt x="106733" y="150614"/>
                  <a:pt x="101759" y="147399"/>
                </a:cubicBezTo>
                <a:cubicBezTo>
                  <a:pt x="101230" y="153888"/>
                  <a:pt x="101706" y="160556"/>
                  <a:pt x="103293" y="167164"/>
                </a:cubicBezTo>
                <a:cubicBezTo>
                  <a:pt x="110543" y="197644"/>
                  <a:pt x="138430" y="215741"/>
                  <a:pt x="165523" y="207585"/>
                </a:cubicBezTo>
                <a:cubicBezTo>
                  <a:pt x="192617" y="199430"/>
                  <a:pt x="208703" y="168057"/>
                  <a:pt x="201454" y="137577"/>
                </a:cubicBezTo>
                <a:cubicBezTo>
                  <a:pt x="194998" y="110371"/>
                  <a:pt x="172085" y="93047"/>
                  <a:pt x="147955" y="95429"/>
                </a:cubicBezTo>
                <a:cubicBezTo>
                  <a:pt x="150760" y="100965"/>
                  <a:pt x="152400" y="107394"/>
                  <a:pt x="152400" y="114300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4254500" y="28575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Visualization</a:t>
            </a:r>
            <a:endParaRPr b="0" i="0" sz="1500" u="none" cap="none" strike="noStrike"/>
          </a:p>
        </p:txBody>
      </p:sp>
      <p:sp>
        <p:nvSpPr>
          <p:cNvPr id="296" name="Google Shape;296;p12"/>
          <p:cNvSpPr/>
          <p:nvPr/>
        </p:nvSpPr>
        <p:spPr>
          <a:xfrm>
            <a:off x="6604000" y="2857500"/>
            <a:ext cx="304800" cy="304800"/>
          </a:xfrm>
          <a:custGeom>
            <a:rect b="b" l="l" r="r" t="t"/>
            <a:pathLst>
              <a:path extrusionOk="0" h="304800" w="304800">
                <a:moveTo>
                  <a:pt x="139383" y="-16073"/>
                </a:moveTo>
                <a:lnTo>
                  <a:pt x="147214" y="5834"/>
                </a:lnTo>
                <a:lnTo>
                  <a:pt x="166688" y="14645"/>
                </a:lnTo>
                <a:cubicBezTo>
                  <a:pt x="168275" y="15359"/>
                  <a:pt x="169333" y="17145"/>
                  <a:pt x="169333" y="19050"/>
                </a:cubicBezTo>
                <a:cubicBezTo>
                  <a:pt x="169333" y="20955"/>
                  <a:pt x="168275" y="22741"/>
                  <a:pt x="166688" y="23455"/>
                </a:cubicBezTo>
                <a:lnTo>
                  <a:pt x="147214" y="32266"/>
                </a:lnTo>
                <a:lnTo>
                  <a:pt x="139383" y="54173"/>
                </a:lnTo>
                <a:cubicBezTo>
                  <a:pt x="138748" y="55959"/>
                  <a:pt x="137160" y="57150"/>
                  <a:pt x="135467" y="57150"/>
                </a:cubicBezTo>
                <a:cubicBezTo>
                  <a:pt x="133773" y="57150"/>
                  <a:pt x="132186" y="55959"/>
                  <a:pt x="131551" y="54173"/>
                </a:cubicBezTo>
                <a:lnTo>
                  <a:pt x="123719" y="32266"/>
                </a:lnTo>
                <a:lnTo>
                  <a:pt x="104246" y="23455"/>
                </a:lnTo>
                <a:cubicBezTo>
                  <a:pt x="102658" y="22741"/>
                  <a:pt x="101600" y="20955"/>
                  <a:pt x="101600" y="19050"/>
                </a:cubicBezTo>
                <a:cubicBezTo>
                  <a:pt x="101600" y="17145"/>
                  <a:pt x="102658" y="15359"/>
                  <a:pt x="104246" y="14645"/>
                </a:cubicBezTo>
                <a:lnTo>
                  <a:pt x="123719" y="5834"/>
                </a:lnTo>
                <a:lnTo>
                  <a:pt x="131551" y="-16073"/>
                </a:lnTo>
                <a:cubicBezTo>
                  <a:pt x="132186" y="-17859"/>
                  <a:pt x="133773" y="-19050"/>
                  <a:pt x="135467" y="-19050"/>
                </a:cubicBezTo>
                <a:cubicBezTo>
                  <a:pt x="137160" y="-19050"/>
                  <a:pt x="138748" y="-17859"/>
                  <a:pt x="139383" y="-16073"/>
                </a:cubicBezTo>
                <a:close/>
                <a:moveTo>
                  <a:pt x="58579" y="24825"/>
                </a:moveTo>
                <a:lnTo>
                  <a:pt x="69956" y="54650"/>
                </a:lnTo>
                <a:lnTo>
                  <a:pt x="96467" y="67449"/>
                </a:lnTo>
                <a:cubicBezTo>
                  <a:pt x="99589" y="68937"/>
                  <a:pt x="101600" y="72390"/>
                  <a:pt x="101600" y="76200"/>
                </a:cubicBezTo>
                <a:cubicBezTo>
                  <a:pt x="101600" y="80010"/>
                  <a:pt x="99589" y="83463"/>
                  <a:pt x="96467" y="84951"/>
                </a:cubicBezTo>
                <a:lnTo>
                  <a:pt x="69956" y="97750"/>
                </a:lnTo>
                <a:lnTo>
                  <a:pt x="58579" y="127575"/>
                </a:lnTo>
                <a:cubicBezTo>
                  <a:pt x="57256" y="131088"/>
                  <a:pt x="54187" y="133350"/>
                  <a:pt x="50800" y="133350"/>
                </a:cubicBezTo>
                <a:cubicBezTo>
                  <a:pt x="47413" y="133350"/>
                  <a:pt x="44344" y="131088"/>
                  <a:pt x="43021" y="127575"/>
                </a:cubicBezTo>
                <a:lnTo>
                  <a:pt x="31644" y="97750"/>
                </a:lnTo>
                <a:lnTo>
                  <a:pt x="5133" y="84951"/>
                </a:lnTo>
                <a:cubicBezTo>
                  <a:pt x="2011" y="83463"/>
                  <a:pt x="0" y="80010"/>
                  <a:pt x="0" y="76200"/>
                </a:cubicBezTo>
                <a:cubicBezTo>
                  <a:pt x="0" y="72390"/>
                  <a:pt x="2011" y="68937"/>
                  <a:pt x="5133" y="67449"/>
                </a:cubicBezTo>
                <a:lnTo>
                  <a:pt x="31644" y="54650"/>
                </a:lnTo>
                <a:lnTo>
                  <a:pt x="43021" y="24825"/>
                </a:lnTo>
                <a:cubicBezTo>
                  <a:pt x="44344" y="21312"/>
                  <a:pt x="47413" y="19050"/>
                  <a:pt x="50800" y="19050"/>
                </a:cubicBezTo>
                <a:cubicBezTo>
                  <a:pt x="54187" y="19050"/>
                  <a:pt x="57256" y="21312"/>
                  <a:pt x="58579" y="24825"/>
                </a:cubicBezTo>
                <a:close/>
                <a:moveTo>
                  <a:pt x="245533" y="180975"/>
                </a:moveTo>
                <a:cubicBezTo>
                  <a:pt x="248920" y="180975"/>
                  <a:pt x="251989" y="183237"/>
                  <a:pt x="253312" y="186750"/>
                </a:cubicBezTo>
                <a:lnTo>
                  <a:pt x="264689" y="216575"/>
                </a:lnTo>
                <a:lnTo>
                  <a:pt x="291200" y="229374"/>
                </a:lnTo>
                <a:cubicBezTo>
                  <a:pt x="294322" y="230862"/>
                  <a:pt x="296333" y="234315"/>
                  <a:pt x="296333" y="238125"/>
                </a:cubicBezTo>
                <a:cubicBezTo>
                  <a:pt x="296333" y="241935"/>
                  <a:pt x="294323" y="245388"/>
                  <a:pt x="291200" y="246876"/>
                </a:cubicBezTo>
                <a:lnTo>
                  <a:pt x="264689" y="259675"/>
                </a:lnTo>
                <a:lnTo>
                  <a:pt x="253312" y="289500"/>
                </a:lnTo>
                <a:cubicBezTo>
                  <a:pt x="251989" y="293013"/>
                  <a:pt x="248920" y="295275"/>
                  <a:pt x="245533" y="295275"/>
                </a:cubicBezTo>
                <a:cubicBezTo>
                  <a:pt x="242147" y="295275"/>
                  <a:pt x="239077" y="293013"/>
                  <a:pt x="237755" y="289500"/>
                </a:cubicBezTo>
                <a:lnTo>
                  <a:pt x="226377" y="259675"/>
                </a:lnTo>
                <a:lnTo>
                  <a:pt x="199866" y="246876"/>
                </a:lnTo>
                <a:cubicBezTo>
                  <a:pt x="196744" y="245388"/>
                  <a:pt x="194733" y="241935"/>
                  <a:pt x="194733" y="238125"/>
                </a:cubicBezTo>
                <a:cubicBezTo>
                  <a:pt x="194733" y="234315"/>
                  <a:pt x="196744" y="230862"/>
                  <a:pt x="199866" y="229374"/>
                </a:cubicBezTo>
                <a:lnTo>
                  <a:pt x="226377" y="216575"/>
                </a:lnTo>
                <a:lnTo>
                  <a:pt x="237755" y="186750"/>
                </a:lnTo>
                <a:cubicBezTo>
                  <a:pt x="239077" y="183237"/>
                  <a:pt x="242147" y="180975"/>
                  <a:pt x="245533" y="180975"/>
                </a:cubicBezTo>
                <a:close/>
                <a:moveTo>
                  <a:pt x="243417" y="0"/>
                </a:moveTo>
                <a:cubicBezTo>
                  <a:pt x="249237" y="0"/>
                  <a:pt x="254847" y="2619"/>
                  <a:pt x="259027" y="7263"/>
                </a:cubicBezTo>
                <a:lnTo>
                  <a:pt x="281411" y="32445"/>
                </a:lnTo>
                <a:cubicBezTo>
                  <a:pt x="285538" y="37148"/>
                  <a:pt x="287867" y="43458"/>
                  <a:pt x="287867" y="50006"/>
                </a:cubicBezTo>
                <a:cubicBezTo>
                  <a:pt x="287867" y="56555"/>
                  <a:pt x="285538" y="62865"/>
                  <a:pt x="281411" y="67568"/>
                </a:cubicBezTo>
                <a:lnTo>
                  <a:pt x="234738" y="120075"/>
                </a:lnTo>
                <a:lnTo>
                  <a:pt x="181134" y="59769"/>
                </a:lnTo>
                <a:lnTo>
                  <a:pt x="227806" y="7263"/>
                </a:lnTo>
                <a:cubicBezTo>
                  <a:pt x="231987" y="2619"/>
                  <a:pt x="237596" y="0"/>
                  <a:pt x="243417" y="0"/>
                </a:cubicBezTo>
                <a:close/>
                <a:moveTo>
                  <a:pt x="23389" y="237232"/>
                </a:moveTo>
                <a:lnTo>
                  <a:pt x="163195" y="79950"/>
                </a:lnTo>
                <a:lnTo>
                  <a:pt x="216800" y="140256"/>
                </a:lnTo>
                <a:lnTo>
                  <a:pt x="76994" y="297537"/>
                </a:lnTo>
                <a:cubicBezTo>
                  <a:pt x="72813" y="302181"/>
                  <a:pt x="67204" y="304800"/>
                  <a:pt x="61383" y="304800"/>
                </a:cubicBezTo>
                <a:cubicBezTo>
                  <a:pt x="55562" y="304800"/>
                  <a:pt x="49953" y="302181"/>
                  <a:pt x="45773" y="297537"/>
                </a:cubicBezTo>
                <a:lnTo>
                  <a:pt x="23389" y="272355"/>
                </a:lnTo>
                <a:cubicBezTo>
                  <a:pt x="19262" y="267653"/>
                  <a:pt x="16933" y="261342"/>
                  <a:pt x="16933" y="254794"/>
                </a:cubicBezTo>
                <a:cubicBezTo>
                  <a:pt x="16933" y="248245"/>
                  <a:pt x="19262" y="241935"/>
                  <a:pt x="23389" y="237232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7048500" y="28575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 Query</a:t>
            </a:r>
            <a:endParaRPr b="0" i="0" sz="1500" u="none" cap="none" strike="noStrike"/>
          </a:p>
        </p:txBody>
      </p:sp>
      <p:sp>
        <p:nvSpPr>
          <p:cNvPr id="298" name="Google Shape;298;p12"/>
          <p:cNvSpPr/>
          <p:nvPr/>
        </p:nvSpPr>
        <p:spPr>
          <a:xfrm>
            <a:off x="9398000" y="2857500"/>
            <a:ext cx="304800" cy="304800"/>
          </a:xfrm>
          <a:custGeom>
            <a:rect b="b" l="l" r="r" t="t"/>
            <a:pathLst>
              <a:path extrusionOk="0" h="304800" w="304800">
                <a:moveTo>
                  <a:pt x="230505" y="-5894"/>
                </a:moveTo>
                <a:cubicBezTo>
                  <a:pt x="238601" y="-774"/>
                  <a:pt x="241595" y="8513"/>
                  <a:pt x="237921" y="16609"/>
                </a:cubicBezTo>
                <a:lnTo>
                  <a:pt x="184581" y="133350"/>
                </a:lnTo>
                <a:lnTo>
                  <a:pt x="283029" y="133350"/>
                </a:lnTo>
                <a:cubicBezTo>
                  <a:pt x="292213" y="133350"/>
                  <a:pt x="300378" y="138351"/>
                  <a:pt x="303507" y="145911"/>
                </a:cubicBezTo>
                <a:cubicBezTo>
                  <a:pt x="306637" y="153472"/>
                  <a:pt x="303984" y="161925"/>
                  <a:pt x="296976" y="167045"/>
                </a:cubicBezTo>
                <a:lnTo>
                  <a:pt x="101033" y="309920"/>
                </a:lnTo>
                <a:cubicBezTo>
                  <a:pt x="93345" y="315516"/>
                  <a:pt x="82391" y="315813"/>
                  <a:pt x="74295" y="310694"/>
                </a:cubicBezTo>
                <a:cubicBezTo>
                  <a:pt x="66199" y="305574"/>
                  <a:pt x="63205" y="296287"/>
                  <a:pt x="66879" y="288191"/>
                </a:cubicBezTo>
                <a:lnTo>
                  <a:pt x="120219" y="171450"/>
                </a:lnTo>
                <a:lnTo>
                  <a:pt x="21771" y="171450"/>
                </a:lnTo>
                <a:cubicBezTo>
                  <a:pt x="12587" y="171450"/>
                  <a:pt x="4422" y="166449"/>
                  <a:pt x="1293" y="158889"/>
                </a:cubicBezTo>
                <a:cubicBezTo>
                  <a:pt x="-1837" y="151328"/>
                  <a:pt x="816" y="142875"/>
                  <a:pt x="7824" y="137755"/>
                </a:cubicBezTo>
                <a:lnTo>
                  <a:pt x="203767" y="-5120"/>
                </a:lnTo>
                <a:cubicBezTo>
                  <a:pt x="211455" y="-10716"/>
                  <a:pt x="222409" y="-11013"/>
                  <a:pt x="230505" y="-5894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9842500" y="28575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 Automation</a:t>
            </a:r>
            <a:endParaRPr b="0" i="0" sz="1500" u="none" cap="none" strike="noStrike"/>
          </a:p>
        </p:txBody>
      </p:sp>
      <p:sp>
        <p:nvSpPr>
          <p:cNvPr id="300" name="Google Shape;300;p12"/>
          <p:cNvSpPr/>
          <p:nvPr/>
        </p:nvSpPr>
        <p:spPr>
          <a:xfrm>
            <a:off x="12192000" y="2857500"/>
            <a:ext cx="304800" cy="304800"/>
          </a:xfrm>
          <a:custGeom>
            <a:rect b="b" l="l" r="r" t="t"/>
            <a:pathLst>
              <a:path extrusionOk="0" h="304800" w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61912" y="128588"/>
                </a:moveTo>
                <a:lnTo>
                  <a:pt x="61912" y="166688"/>
                </a:lnTo>
                <a:cubicBezTo>
                  <a:pt x="61912" y="174605"/>
                  <a:pt x="68282" y="180975"/>
                  <a:pt x="76200" y="180975"/>
                </a:cubicBezTo>
                <a:cubicBezTo>
                  <a:pt x="84118" y="180975"/>
                  <a:pt x="90488" y="174605"/>
                  <a:pt x="90488" y="166688"/>
                </a:cubicBezTo>
                <a:lnTo>
                  <a:pt x="90488" y="128588"/>
                </a:lnTo>
                <a:cubicBezTo>
                  <a:pt x="90488" y="120670"/>
                  <a:pt x="84118" y="114300"/>
                  <a:pt x="76200" y="114300"/>
                </a:cubicBezTo>
                <a:cubicBezTo>
                  <a:pt x="68282" y="114300"/>
                  <a:pt x="61912" y="120670"/>
                  <a:pt x="61912" y="128588"/>
                </a:cubicBezTo>
                <a:close/>
                <a:moveTo>
                  <a:pt x="109537" y="71438"/>
                </a:moveTo>
                <a:lnTo>
                  <a:pt x="109537" y="166688"/>
                </a:lnTo>
                <a:cubicBezTo>
                  <a:pt x="109537" y="174605"/>
                  <a:pt x="115907" y="180975"/>
                  <a:pt x="123825" y="180975"/>
                </a:cubicBezTo>
                <a:cubicBezTo>
                  <a:pt x="131743" y="180975"/>
                  <a:pt x="138113" y="174605"/>
                  <a:pt x="138113" y="166688"/>
                </a:cubicBezTo>
                <a:lnTo>
                  <a:pt x="138113" y="71438"/>
                </a:lnTo>
                <a:cubicBezTo>
                  <a:pt x="138113" y="63520"/>
                  <a:pt x="131743" y="57150"/>
                  <a:pt x="123825" y="57150"/>
                </a:cubicBezTo>
                <a:cubicBezTo>
                  <a:pt x="115907" y="57150"/>
                  <a:pt x="109537" y="63520"/>
                  <a:pt x="109537" y="71438"/>
                </a:cubicBezTo>
                <a:close/>
                <a:moveTo>
                  <a:pt x="157163" y="109537"/>
                </a:moveTo>
                <a:lnTo>
                  <a:pt x="157163" y="166688"/>
                </a:lnTo>
                <a:cubicBezTo>
                  <a:pt x="157163" y="174605"/>
                  <a:pt x="163532" y="180975"/>
                  <a:pt x="171450" y="180975"/>
                </a:cubicBezTo>
                <a:cubicBezTo>
                  <a:pt x="179368" y="180975"/>
                  <a:pt x="185738" y="174605"/>
                  <a:pt x="185738" y="166688"/>
                </a:cubicBezTo>
                <a:lnTo>
                  <a:pt x="185738" y="109537"/>
                </a:lnTo>
                <a:cubicBezTo>
                  <a:pt x="185738" y="101620"/>
                  <a:pt x="179368" y="95250"/>
                  <a:pt x="171450" y="95250"/>
                </a:cubicBezTo>
                <a:cubicBezTo>
                  <a:pt x="163532" y="95250"/>
                  <a:pt x="157163" y="101620"/>
                  <a:pt x="157163" y="109537"/>
                </a:cubicBez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12636500" y="28575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Analytics</a:t>
            </a:r>
            <a:endParaRPr b="0" i="0" sz="1500" u="none" cap="none" strike="noStrike"/>
          </a:p>
        </p:txBody>
      </p:sp>
      <p:sp>
        <p:nvSpPr>
          <p:cNvPr id="302" name="Google Shape;302;p12"/>
          <p:cNvSpPr/>
          <p:nvPr/>
        </p:nvSpPr>
        <p:spPr>
          <a:xfrm>
            <a:off x="5588000" y="3492500"/>
            <a:ext cx="5080000" cy="12700"/>
          </a:xfrm>
          <a:prstGeom prst="rect">
            <a:avLst/>
          </a:prstGeom>
          <a:solidFill>
            <a:srgbClr val="FFFFFF">
              <a:alpha val="1882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762000" y="37465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Liter"/>
                <a:ea typeface="Liter"/>
                <a:cs typeface="Liter"/>
                <a:sym typeface="Liter"/>
              </a:rPr>
              <a:t>FUTURE ENHANCEMENTS</a:t>
            </a:r>
            <a:endParaRPr b="0" i="0" sz="1400" u="none" cap="none" strike="noStrike"/>
          </a:p>
        </p:txBody>
      </p:sp>
      <p:sp>
        <p:nvSpPr>
          <p:cNvPr id="304" name="Google Shape;304;p12"/>
          <p:cNvSpPr/>
          <p:nvPr/>
        </p:nvSpPr>
        <p:spPr>
          <a:xfrm>
            <a:off x="762000" y="4191000"/>
            <a:ext cx="14732000" cy="25400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1143000" y="4381500"/>
            <a:ext cx="4318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DEPLOYMENT</a:t>
            </a:r>
            <a:endParaRPr b="0" i="0" sz="1600" u="none" cap="none" strike="noStrike"/>
          </a:p>
        </p:txBody>
      </p:sp>
      <p:sp>
        <p:nvSpPr>
          <p:cNvPr id="306" name="Google Shape;306;p12"/>
          <p:cNvSpPr/>
          <p:nvPr/>
        </p:nvSpPr>
        <p:spPr>
          <a:xfrm>
            <a:off x="1143000" y="4762500"/>
            <a:ext cx="4318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B0B8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Deploy via Power BI Service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B0B8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Configure scheduled refresh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B0B8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Connect to live PostgreSQL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B0B8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Add Row-Level Security (RLS)</a:t>
            </a:r>
            <a:endParaRPr b="0" i="0" sz="1400" u="none" cap="none" strike="noStrike"/>
          </a:p>
        </p:txBody>
      </p:sp>
      <p:sp>
        <p:nvSpPr>
          <p:cNvPr id="307" name="Google Shape;307;p12"/>
          <p:cNvSpPr/>
          <p:nvPr/>
        </p:nvSpPr>
        <p:spPr>
          <a:xfrm>
            <a:off x="5969000" y="4381500"/>
            <a:ext cx="4318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ADVANCED ANALYTICS</a:t>
            </a:r>
            <a:endParaRPr b="0" i="0" sz="1600" u="none" cap="none" strike="noStrike"/>
          </a:p>
        </p:txBody>
      </p:sp>
      <p:sp>
        <p:nvSpPr>
          <p:cNvPr id="308" name="Google Shape;308;p12"/>
          <p:cNvSpPr/>
          <p:nvPr/>
        </p:nvSpPr>
        <p:spPr>
          <a:xfrm>
            <a:off x="5969000" y="4762500"/>
            <a:ext cx="4318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B0B8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Integrate Python forecasting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B0B8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Predictive revenue models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B0B8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Customer churn analysis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B0B8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Anomaly detection alerts</a:t>
            </a:r>
            <a:endParaRPr b="0" i="0" sz="1400" u="none" cap="none" strike="noStrike"/>
          </a:p>
        </p:txBody>
      </p:sp>
      <p:sp>
        <p:nvSpPr>
          <p:cNvPr id="309" name="Google Shape;309;p12"/>
          <p:cNvSpPr/>
          <p:nvPr/>
        </p:nvSpPr>
        <p:spPr>
          <a:xfrm>
            <a:off x="10795000" y="4381500"/>
            <a:ext cx="4318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EXPERIENCE</a:t>
            </a:r>
            <a:endParaRPr b="0" i="0" sz="1600" u="none" cap="none" strike="noStrike"/>
          </a:p>
        </p:txBody>
      </p:sp>
      <p:sp>
        <p:nvSpPr>
          <p:cNvPr id="310" name="Google Shape;310;p12"/>
          <p:cNvSpPr/>
          <p:nvPr/>
        </p:nvSpPr>
        <p:spPr>
          <a:xfrm>
            <a:off x="10795000" y="4762500"/>
            <a:ext cx="4318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B0B8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Executive dashboard layouts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B0B8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Mobile-optimized views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B0B8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Custom alert notifications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400" u="none" cap="none" strike="noStrike">
                <a:solidFill>
                  <a:srgbClr val="B0B8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API-driven real-time feeds</a:t>
            </a:r>
            <a:endParaRPr b="0" i="0" sz="1400" u="none" cap="none" strike="noStrike"/>
          </a:p>
        </p:txBody>
      </p:sp>
      <p:sp>
        <p:nvSpPr>
          <p:cNvPr id="311" name="Google Shape;311;p12"/>
          <p:cNvSpPr/>
          <p:nvPr/>
        </p:nvSpPr>
        <p:spPr>
          <a:xfrm>
            <a:off x="6858000" y="7239000"/>
            <a:ext cx="2540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4318000" y="7493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THANK YOU</a:t>
            </a:r>
            <a:endParaRPr b="0" i="0" sz="3200" u="none" cap="none" strike="noStrike"/>
          </a:p>
        </p:txBody>
      </p:sp>
      <p:sp>
        <p:nvSpPr>
          <p:cNvPr id="313" name="Google Shape;313;p12"/>
          <p:cNvSpPr/>
          <p:nvPr/>
        </p:nvSpPr>
        <p:spPr>
          <a:xfrm>
            <a:off x="2857000" y="8140700"/>
            <a:ext cx="105420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Satyam Anand  |  satyamanand9555@gmail.com  |  linkedin.com/in/satyam-anand-sa9555</a:t>
            </a:r>
            <a:endParaRPr b="0" i="0" sz="1800" u="none" cap="none" strike="noStrike"/>
          </a:p>
        </p:txBody>
      </p:sp>
      <p:sp>
        <p:nvSpPr>
          <p:cNvPr id="314" name="Google Shape;314;p12"/>
          <p:cNvSpPr/>
          <p:nvPr/>
        </p:nvSpPr>
        <p:spPr>
          <a:xfrm>
            <a:off x="15113000" y="8763000"/>
            <a:ext cx="63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b="0" i="0" sz="12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